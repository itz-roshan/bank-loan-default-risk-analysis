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57" r:id="rId5"/>
    <p:sldId id="267" r:id="rId6"/>
    <p:sldId id="258" r:id="rId7"/>
    <p:sldId id="260" r:id="rId8"/>
    <p:sldId id="262" r:id="rId9"/>
    <p:sldId id="276" r:id="rId10"/>
    <p:sldId id="289" r:id="rId11"/>
    <p:sldId id="281" r:id="rId12"/>
    <p:sldId id="293" r:id="rId13"/>
    <p:sldId id="294" r:id="rId14"/>
    <p:sldId id="263" r:id="rId15"/>
    <p:sldId id="288" r:id="rId16"/>
    <p:sldId id="285" r:id="rId17"/>
    <p:sldId id="290" r:id="rId18"/>
    <p:sldId id="275" r:id="rId19"/>
    <p:sldId id="291" r:id="rId20"/>
    <p:sldId id="279" r:id="rId21"/>
    <p:sldId id="280" r:id="rId22"/>
    <p:sldId id="292" r:id="rId23"/>
    <p:sldId id="286" r:id="rId24"/>
    <p:sldId id="287" r:id="rId25"/>
    <p:sldId id="277" r:id="rId26"/>
    <p:sldId id="271" r:id="rId27"/>
    <p:sldId id="27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7" autoAdjust="0"/>
    <p:restoredTop sz="94614" autoAdjust="0"/>
  </p:normalViewPr>
  <p:slideViewPr>
    <p:cSldViewPr snapToGrid="0">
      <p:cViewPr varScale="1">
        <p:scale>
          <a:sx n="78" d="100"/>
          <a:sy n="78" d="100"/>
        </p:scale>
        <p:origin x="178" y="3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5716D-39C9-48C4-A3EB-B88E4515427D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C6D3C-9EB0-4F2C-9026-3887D1CDB4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763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612000" tIns="0" anchor="ctr"/>
          <a:lstStyle>
            <a:lvl1pPr marL="0" indent="0" algn="l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00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anchor="ctr"/>
          <a:lstStyle>
            <a:lvl1pPr algn="l"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97F3D-57FA-4E82-9EEC-E93088055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0" y="4276447"/>
            <a:ext cx="5161550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144000" anchor="ctr"/>
          <a:lstStyle>
            <a:lvl1pPr marL="0" indent="0" algn="l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1775C8-C7F0-4EC5-A9C0-53AE3A0C5F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0" y="6262080"/>
            <a:ext cx="7560000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8B0AE2-DA19-49E2-AC81-5272385D30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5689F-8B6B-4484-8064-90B4D8FB7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7343" y="2731933"/>
            <a:ext cx="6903253" cy="3350673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576000" tIns="1872000" rIns="576000"/>
          <a:lstStyle>
            <a:lvl1pPr marL="0" indent="0">
              <a:lnSpc>
                <a:spcPts val="2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Describe Your Big Idea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57B9832-0120-4094-8C27-082E3533C5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012000" cy="6858000"/>
          </a:xfrm>
          <a:custGeom>
            <a:avLst/>
            <a:gdLst>
              <a:gd name="connsiteX0" fmla="*/ 0 w 12012000"/>
              <a:gd name="connsiteY0" fmla="*/ 0 h 6858000"/>
              <a:gd name="connsiteX1" fmla="*/ 8592000 w 12012000"/>
              <a:gd name="connsiteY1" fmla="*/ 0 h 6858000"/>
              <a:gd name="connsiteX2" fmla="*/ 8592000 w 12012000"/>
              <a:gd name="connsiteY2" fmla="*/ 180000 h 6858000"/>
              <a:gd name="connsiteX3" fmla="*/ 12012000 w 12012000"/>
              <a:gd name="connsiteY3" fmla="*/ 180000 h 6858000"/>
              <a:gd name="connsiteX4" fmla="*/ 12012000 w 12012000"/>
              <a:gd name="connsiteY4" fmla="*/ 6678000 h 6858000"/>
              <a:gd name="connsiteX5" fmla="*/ 8592000 w 12012000"/>
              <a:gd name="connsiteY5" fmla="*/ 6678000 h 6858000"/>
              <a:gd name="connsiteX6" fmla="*/ 8592000 w 12012000"/>
              <a:gd name="connsiteY6" fmla="*/ 6858000 h 6858000"/>
              <a:gd name="connsiteX7" fmla="*/ 0 w 1201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012000" h="6858000">
                <a:moveTo>
                  <a:pt x="0" y="0"/>
                </a:moveTo>
                <a:lnTo>
                  <a:pt x="8592000" y="0"/>
                </a:lnTo>
                <a:lnTo>
                  <a:pt x="8592000" y="180000"/>
                </a:lnTo>
                <a:lnTo>
                  <a:pt x="12012000" y="180000"/>
                </a:lnTo>
                <a:lnTo>
                  <a:pt x="12012000" y="6678000"/>
                </a:lnTo>
                <a:lnTo>
                  <a:pt x="8592000" y="6678000"/>
                </a:lnTo>
                <a:lnTo>
                  <a:pt x="85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0" tIns="0" rIns="61200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3999" y="6262080"/>
            <a:ext cx="6190934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AF90A48-1BFB-4A19-9A1C-2851879F9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778" y="3096087"/>
            <a:ext cx="5455750" cy="1008000"/>
          </a:xfrm>
        </p:spPr>
        <p:txBody>
          <a:bodyPr/>
          <a:lstStyle>
            <a:lvl1pPr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9E79024-4B2E-43B0-8607-196181AB731F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59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X Number &amp;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F266E5-40A6-4643-B9AC-B38F272563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B790CB-E4F5-4B61-A03E-1CA0C32E3F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4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570684C-B743-402E-8778-A65199577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710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CEC7149-9A00-4CA4-B800-1BFD6EBEB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2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74F0E2-36BA-43B5-8799-77AA3367DF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9707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BA12174-6A24-4E61-8D58-B3B42C31BE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6056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3A67B21-0E8B-4922-94F9-20492309C4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46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801C20C-82D2-465E-8D45-DF1A57E045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08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2BAD45E-2039-4F8D-9CFC-42BFA3756A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31412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64A78879-6338-4F3B-864E-8FF4E08C00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57654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80118439-B306-4F20-9200-1C429EADC7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01000" y="5271502"/>
            <a:ext cx="1990001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0" anchor="ctr"/>
          <a:lstStyle>
            <a:lvl1pPr marL="0" indent="0" algn="ctr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Outcome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9B7E7F2-DF6B-4441-B0B1-7E87E29BA3A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985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ED41522A-FBAF-4E5D-B592-F13855964E8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3853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AA51069C-E1DC-44A0-A6A0-2A4AB0DD4D7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84044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42F6437E-5478-451F-9BE3-E8160EA435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9589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25127DFD-53A7-41A8-B591-AEEC1203802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45749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89258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 40 Vertical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F76D43D-0DDD-4BAD-8213-BDBF75C3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6118" y="4338116"/>
            <a:ext cx="10839764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6D3ACF3-E1F5-4332-9836-C8E6C46591B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43438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F8FE7-66F4-4586-B49B-61E115ED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5B890-F885-418C-9812-59970CAC6B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21507-88DE-417D-8076-D9152E1E1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C7DDD-6F93-45F8-AFD6-95AA051FE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CD6042-5DF4-4624-BC32-25F68745304A}"/>
              </a:ext>
            </a:extLst>
          </p:cNvPr>
          <p:cNvSpPr/>
          <p:nvPr userDrawn="1"/>
        </p:nvSpPr>
        <p:spPr>
          <a:xfrm rot="5400000">
            <a:off x="8220300" y="371700"/>
            <a:ext cx="4343400" cy="3600000"/>
          </a:xfrm>
          <a:custGeom>
            <a:avLst/>
            <a:gdLst>
              <a:gd name="connsiteX0" fmla="*/ 0 w 4343400"/>
              <a:gd name="connsiteY0" fmla="*/ 3600000 h 3600000"/>
              <a:gd name="connsiteX1" fmla="*/ 0 w 4343400"/>
              <a:gd name="connsiteY1" fmla="*/ 0 h 3600000"/>
              <a:gd name="connsiteX2" fmla="*/ 180000 w 4343400"/>
              <a:gd name="connsiteY2" fmla="*/ 0 h 3600000"/>
              <a:gd name="connsiteX3" fmla="*/ 4343400 w 4343400"/>
              <a:gd name="connsiteY3" fmla="*/ 0 h 3600000"/>
              <a:gd name="connsiteX4" fmla="*/ 4343400 w 4343400"/>
              <a:gd name="connsiteY4" fmla="*/ 180000 h 3600000"/>
              <a:gd name="connsiteX5" fmla="*/ 180000 w 4343400"/>
              <a:gd name="connsiteY5" fmla="*/ 180000 h 3600000"/>
              <a:gd name="connsiteX6" fmla="*/ 180000 w 43434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34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4343400" y="0"/>
                </a:lnTo>
                <a:lnTo>
                  <a:pt x="43434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294759C-286C-4281-B194-581C766EEF28}"/>
              </a:ext>
            </a:extLst>
          </p:cNvPr>
          <p:cNvSpPr/>
          <p:nvPr userDrawn="1"/>
        </p:nvSpPr>
        <p:spPr>
          <a:xfrm rot="5400000">
            <a:off x="9134700" y="3800700"/>
            <a:ext cx="2514600" cy="3600000"/>
          </a:xfrm>
          <a:custGeom>
            <a:avLst/>
            <a:gdLst>
              <a:gd name="connsiteX0" fmla="*/ 0 w 2514600"/>
              <a:gd name="connsiteY0" fmla="*/ 180000 h 3600000"/>
              <a:gd name="connsiteX1" fmla="*/ 0 w 2514600"/>
              <a:gd name="connsiteY1" fmla="*/ 0 h 3600000"/>
              <a:gd name="connsiteX2" fmla="*/ 2334600 w 2514600"/>
              <a:gd name="connsiteY2" fmla="*/ 0 h 3600000"/>
              <a:gd name="connsiteX3" fmla="*/ 2514600 w 2514600"/>
              <a:gd name="connsiteY3" fmla="*/ 0 h 3600000"/>
              <a:gd name="connsiteX4" fmla="*/ 2514600 w 2514600"/>
              <a:gd name="connsiteY4" fmla="*/ 180000 h 3600000"/>
              <a:gd name="connsiteX5" fmla="*/ 2514600 w 2514600"/>
              <a:gd name="connsiteY5" fmla="*/ 3600000 h 3600000"/>
              <a:gd name="connsiteX6" fmla="*/ 2334600 w 2514600"/>
              <a:gd name="connsiteY6" fmla="*/ 3600000 h 3600000"/>
              <a:gd name="connsiteX7" fmla="*/ 2334600 w 25146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4600" h="3600000">
                <a:moveTo>
                  <a:pt x="0" y="180000"/>
                </a:moveTo>
                <a:lnTo>
                  <a:pt x="0" y="0"/>
                </a:lnTo>
                <a:lnTo>
                  <a:pt x="2334600" y="0"/>
                </a:lnTo>
                <a:lnTo>
                  <a:pt x="2514600" y="0"/>
                </a:lnTo>
                <a:lnTo>
                  <a:pt x="2514600" y="180000"/>
                </a:lnTo>
                <a:lnTo>
                  <a:pt x="2514600" y="3600000"/>
                </a:lnTo>
                <a:lnTo>
                  <a:pt x="2334600" y="3600000"/>
                </a:lnTo>
                <a:lnTo>
                  <a:pt x="23346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7894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E6622698-E93D-4214-8C21-38DBE58C2E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22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706BC54-FE11-4237-96CC-8DA267DB5D7C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58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7058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129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3129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92000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92000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E6D854C-C76F-49BA-9E74-F438CA8EA9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7058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D447D7D-C1F4-4AD4-AE22-EB8E7F1C41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7058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49DF703-38D0-4214-9432-83570E10EF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129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9EB6572-1A9F-4672-8E42-A4E15451CA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129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740EB70-455C-47FF-9A9A-0D78D202ED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2000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CD9A5773-4F50-4631-9B7A-0A2D83E5DC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92000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87598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5350A6A-6F84-47F4-AE00-8295D96D08C8}"/>
              </a:ext>
            </a:extLst>
          </p:cNvPr>
          <p:cNvSpPr/>
          <p:nvPr userDrawn="1"/>
        </p:nvSpPr>
        <p:spPr>
          <a:xfrm rot="5400000">
            <a:off x="8677500" y="3343500"/>
            <a:ext cx="3429000" cy="3600000"/>
          </a:xfrm>
          <a:custGeom>
            <a:avLst/>
            <a:gdLst>
              <a:gd name="connsiteX0" fmla="*/ 0 w 3429000"/>
              <a:gd name="connsiteY0" fmla="*/ 180000 h 3600000"/>
              <a:gd name="connsiteX1" fmla="*/ 0 w 3429000"/>
              <a:gd name="connsiteY1" fmla="*/ 0 h 3600000"/>
              <a:gd name="connsiteX2" fmla="*/ 3249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3429000 w 3429000"/>
              <a:gd name="connsiteY5" fmla="*/ 3600000 h 3600000"/>
              <a:gd name="connsiteX6" fmla="*/ 3249000 w 3429000"/>
              <a:gd name="connsiteY6" fmla="*/ 3600000 h 3600000"/>
              <a:gd name="connsiteX7" fmla="*/ 3249000 w 34290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000" h="3600000">
                <a:moveTo>
                  <a:pt x="0" y="180000"/>
                </a:moveTo>
                <a:lnTo>
                  <a:pt x="0" y="0"/>
                </a:lnTo>
                <a:lnTo>
                  <a:pt x="3249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3429000" y="3600000"/>
                </a:lnTo>
                <a:lnTo>
                  <a:pt x="3249000" y="3600000"/>
                </a:lnTo>
                <a:lnTo>
                  <a:pt x="32490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3429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2863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863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5432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432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8000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08000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908907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71476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434044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EA98CFA-B2A7-4BCC-B1DC-01CFAD2DD65E}"/>
              </a:ext>
            </a:extLst>
          </p:cNvPr>
          <p:cNvSpPr/>
          <p:nvPr userDrawn="1"/>
        </p:nvSpPr>
        <p:spPr>
          <a:xfrm rot="5400000">
            <a:off x="8677500" y="-85500"/>
            <a:ext cx="3429000" cy="3600000"/>
          </a:xfrm>
          <a:custGeom>
            <a:avLst/>
            <a:gdLst>
              <a:gd name="connsiteX0" fmla="*/ 0 w 3429000"/>
              <a:gd name="connsiteY0" fmla="*/ 3600000 h 3600000"/>
              <a:gd name="connsiteX1" fmla="*/ 0 w 3429000"/>
              <a:gd name="connsiteY1" fmla="*/ 0 h 3600000"/>
              <a:gd name="connsiteX2" fmla="*/ 180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180000 w 3429000"/>
              <a:gd name="connsiteY5" fmla="*/ 180000 h 3600000"/>
              <a:gd name="connsiteX6" fmla="*/ 180000 w 34290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59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752CBEE-7696-40FC-AB0E-8790B179D18C}"/>
              </a:ext>
            </a:extLst>
          </p:cNvPr>
          <p:cNvSpPr/>
          <p:nvPr userDrawn="1"/>
        </p:nvSpPr>
        <p:spPr>
          <a:xfrm rot="5400000">
            <a:off x="8188485" y="2854485"/>
            <a:ext cx="4407031" cy="3600000"/>
          </a:xfrm>
          <a:custGeom>
            <a:avLst/>
            <a:gdLst>
              <a:gd name="connsiteX0" fmla="*/ 0 w 4407031"/>
              <a:gd name="connsiteY0" fmla="*/ 180000 h 3600000"/>
              <a:gd name="connsiteX1" fmla="*/ 0 w 4407031"/>
              <a:gd name="connsiteY1" fmla="*/ 0 h 3600000"/>
              <a:gd name="connsiteX2" fmla="*/ 4227031 w 4407031"/>
              <a:gd name="connsiteY2" fmla="*/ 0 h 3600000"/>
              <a:gd name="connsiteX3" fmla="*/ 4407031 w 4407031"/>
              <a:gd name="connsiteY3" fmla="*/ 0 h 3600000"/>
              <a:gd name="connsiteX4" fmla="*/ 4407031 w 4407031"/>
              <a:gd name="connsiteY4" fmla="*/ 180000 h 3600000"/>
              <a:gd name="connsiteX5" fmla="*/ 4407031 w 4407031"/>
              <a:gd name="connsiteY5" fmla="*/ 3600000 h 3600000"/>
              <a:gd name="connsiteX6" fmla="*/ 4227031 w 4407031"/>
              <a:gd name="connsiteY6" fmla="*/ 3600000 h 3600000"/>
              <a:gd name="connsiteX7" fmla="*/ 4227031 w 4407031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7031" h="3600000">
                <a:moveTo>
                  <a:pt x="0" y="180000"/>
                </a:moveTo>
                <a:lnTo>
                  <a:pt x="0" y="0"/>
                </a:lnTo>
                <a:lnTo>
                  <a:pt x="4227031" y="0"/>
                </a:lnTo>
                <a:lnTo>
                  <a:pt x="4407031" y="0"/>
                </a:lnTo>
                <a:lnTo>
                  <a:pt x="4407031" y="180000"/>
                </a:lnTo>
                <a:lnTo>
                  <a:pt x="4407031" y="3600000"/>
                </a:lnTo>
                <a:lnTo>
                  <a:pt x="4227031" y="3600000"/>
                </a:lnTo>
                <a:lnTo>
                  <a:pt x="4227031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2451405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9445125-53D2-43B3-8ABC-C88E463BE7DD}"/>
              </a:ext>
            </a:extLst>
          </p:cNvPr>
          <p:cNvSpPr/>
          <p:nvPr userDrawn="1"/>
        </p:nvSpPr>
        <p:spPr>
          <a:xfrm rot="5400000">
            <a:off x="9166516" y="-574515"/>
            <a:ext cx="2450969" cy="3600000"/>
          </a:xfrm>
          <a:custGeom>
            <a:avLst/>
            <a:gdLst>
              <a:gd name="connsiteX0" fmla="*/ 0 w 2450969"/>
              <a:gd name="connsiteY0" fmla="*/ 3600000 h 3600000"/>
              <a:gd name="connsiteX1" fmla="*/ 0 w 2450969"/>
              <a:gd name="connsiteY1" fmla="*/ 0 h 3600000"/>
              <a:gd name="connsiteX2" fmla="*/ 180000 w 2450969"/>
              <a:gd name="connsiteY2" fmla="*/ 0 h 3600000"/>
              <a:gd name="connsiteX3" fmla="*/ 2450969 w 2450969"/>
              <a:gd name="connsiteY3" fmla="*/ 0 h 3600000"/>
              <a:gd name="connsiteX4" fmla="*/ 2450969 w 2450969"/>
              <a:gd name="connsiteY4" fmla="*/ 180000 h 3600000"/>
              <a:gd name="connsiteX5" fmla="*/ 180000 w 2450969"/>
              <a:gd name="connsiteY5" fmla="*/ 180000 h 3600000"/>
              <a:gd name="connsiteX6" fmla="*/ 180000 w 2450969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0969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2450969" y="0"/>
                </a:lnTo>
                <a:lnTo>
                  <a:pt x="2450969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5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Full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A18EF7D-14D0-4362-B8BD-722D3D54D4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3936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67FF01B-795B-4F5D-87AF-6CAA8DD5D48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F32FC1-1FF6-4874-9835-EB1A90F7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039E70-36A3-46C1-B30E-CA4CC0B36C5D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73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6858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8907576-77BD-4FD0-A9FE-48D249CB435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03794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03794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6363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6363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28931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28931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867711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30280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392848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E407FE5-15DF-40F7-B14C-0A04CC30CD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3794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7DD73F77-2E6A-450D-B4AF-8643D8AE1E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03794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F1CAED2-2A78-4780-A303-060C24C565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66363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4E77CA0B-49F8-4EE9-84A7-AB28FD1CC1E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6363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5D4F2294-CE3A-4705-BCB3-C5DAFA373C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8931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7B49F9AF-7698-444D-8D12-FA0B6A713E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28931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33" name="Picture Placeholder 25">
            <a:extLst>
              <a:ext uri="{FF2B5EF4-FFF2-40B4-BE49-F238E27FC236}">
                <a16:creationId xmlns:a16="http://schemas.microsoft.com/office/drawing/2014/main" id="{6057C2E9-1501-4819-B77D-23A0268DB0F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67711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4" name="Picture Placeholder 25">
            <a:extLst>
              <a:ext uri="{FF2B5EF4-FFF2-40B4-BE49-F238E27FC236}">
                <a16:creationId xmlns:a16="http://schemas.microsoft.com/office/drawing/2014/main" id="{C77B8544-1CEE-4ED4-89E8-ED042673804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30280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Picture Placeholder 25">
            <a:extLst>
              <a:ext uri="{FF2B5EF4-FFF2-40B4-BE49-F238E27FC236}">
                <a16:creationId xmlns:a16="http://schemas.microsoft.com/office/drawing/2014/main" id="{E1131D92-0382-469E-A358-A2EC5FDCCF3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92848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EBF36-B9CA-4962-B198-27B56B54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219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95500" y="1992933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8EA298-DD21-4B69-8125-094245EDF7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4213" y="19929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C93EFCC-1E62-4200-9E96-2476EE2581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4213" y="34311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8741D874-BD81-4469-AA1C-32517FD7C37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4213" y="48693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FB0B599-DDEF-43E9-A07F-FC328C595BCE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095500" y="3422739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3FF0857-6431-48DC-BE82-9A93C55CEFB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095500" y="4867850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2119471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740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0" tIns="0" rIns="612000" anchor="ctr"/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bIns="756000" anchor="ctr"/>
          <a:lstStyle>
            <a:lvl1pPr algn="l">
              <a:lnSpc>
                <a:spcPct val="65000"/>
              </a:lnSpc>
              <a:defRPr sz="88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9FD1A9-E34B-4888-90DE-493861AD75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17700" y="4508500"/>
            <a:ext cx="3314700" cy="33020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452AC72-D893-4C1A-83BD-9930164D89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17700" y="5180023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2EEC149-F1BE-4C36-A789-5BF73B40A2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7700" y="5683561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CC256E6-6AE8-4950-838C-BE638FB479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17700" y="4821910"/>
            <a:ext cx="3314700" cy="205029"/>
          </a:xfrm>
        </p:spPr>
        <p:txBody>
          <a:bodyPr anchor="t"/>
          <a:lstStyle>
            <a:lvl1pPr marL="0" indent="0">
              <a:buNone/>
              <a:defRPr sz="1000" i="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318579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5246D-ECE9-473C-953D-D56C3F7B3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946F0-677D-45B4-83B9-FD3BD3FFC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1825625"/>
            <a:ext cx="1080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BE21-FA72-48F5-9A53-134902BF6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000" y="6192000"/>
            <a:ext cx="7560000" cy="36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79B29-5421-49A7-A511-D916B66A8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5764" y="6241764"/>
            <a:ext cx="270474" cy="270474"/>
          </a:xfrm>
          <a:prstGeom prst="ellipse">
            <a:avLst/>
          </a:prstGeom>
          <a:solidFill>
            <a:schemeClr val="accent1"/>
          </a:solidFill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892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50" r:id="rId12"/>
    <p:sldLayoutId id="214748366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 typeface="Arial" panose="020B0604020202020204" pitchFamily="34" charset="0"/>
        <a:buChar char="●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Tx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75000"/>
            <a:lumOff val="25000"/>
          </a:schemeClr>
        </a:buClr>
        <a:buSzPct val="80000"/>
        <a:buFont typeface="Courier New" panose="02070309020205020404" pitchFamily="49" charset="0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9060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7" Type="http://schemas.openxmlformats.org/officeDocument/2006/relationships/image" Target="../media/image53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7" Type="http://schemas.openxmlformats.org/officeDocument/2006/relationships/image" Target="../media/image60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9.png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12.png"/><Relationship Id="rId7" Type="http://schemas.openxmlformats.org/officeDocument/2006/relationships/image" Target="../media/image66.png"/><Relationship Id="rId12" Type="http://schemas.openxmlformats.org/officeDocument/2006/relationships/image" Target="../media/image71.sv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5.sv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svg"/><Relationship Id="rId4" Type="http://schemas.openxmlformats.org/officeDocument/2006/relationships/image" Target="../media/image63.svg"/><Relationship Id="rId9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sv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sv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8.sv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svg"/><Relationship Id="rId4" Type="http://schemas.openxmlformats.org/officeDocument/2006/relationships/image" Target="../media/image76.svg"/><Relationship Id="rId9" Type="http://schemas.openxmlformats.org/officeDocument/2006/relationships/image" Target="../media/image8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7" Type="http://schemas.openxmlformats.org/officeDocument/2006/relationships/image" Target="../media/image90.sv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9.png"/><Relationship Id="rId5" Type="http://schemas.openxmlformats.org/officeDocument/2006/relationships/image" Target="../media/image88.svg"/><Relationship Id="rId4" Type="http://schemas.openxmlformats.org/officeDocument/2006/relationships/image" Target="../media/image8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svg"/><Relationship Id="rId7" Type="http://schemas.openxmlformats.org/officeDocument/2006/relationships/image" Target="../media/image97.sv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6.png"/><Relationship Id="rId5" Type="http://schemas.openxmlformats.org/officeDocument/2006/relationships/image" Target="../media/image95.svg"/><Relationship Id="rId4" Type="http://schemas.openxmlformats.org/officeDocument/2006/relationships/image" Target="../media/image9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svg"/><Relationship Id="rId3" Type="http://schemas.openxmlformats.org/officeDocument/2006/relationships/image" Target="../media/image85.png"/><Relationship Id="rId7" Type="http://schemas.openxmlformats.org/officeDocument/2006/relationships/image" Target="../media/image102.png"/><Relationship Id="rId12" Type="http://schemas.openxmlformats.org/officeDocument/2006/relationships/image" Target="../media/image107.svg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1.sv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svg"/><Relationship Id="rId4" Type="http://schemas.openxmlformats.org/officeDocument/2006/relationships/image" Target="../media/image99.svg"/><Relationship Id="rId9" Type="http://schemas.openxmlformats.org/officeDocument/2006/relationships/image" Target="../media/image10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2.svg"/><Relationship Id="rId5" Type="http://schemas.openxmlformats.org/officeDocument/2006/relationships/image" Target="../media/image111.png"/><Relationship Id="rId4" Type="http://schemas.openxmlformats.org/officeDocument/2006/relationships/image" Target="../media/image110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svg"/><Relationship Id="rId7" Type="http://schemas.openxmlformats.org/officeDocument/2006/relationships/image" Target="../media/image118.sv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7.png"/><Relationship Id="rId5" Type="http://schemas.openxmlformats.org/officeDocument/2006/relationships/image" Target="../media/image116.svg"/><Relationship Id="rId4" Type="http://schemas.openxmlformats.org/officeDocument/2006/relationships/image" Target="../media/image1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8F02F647-7DBC-4618-AFF3-8CED69C5CDE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8D8E648-93B0-47FF-A306-492EFF7FC4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800" dirty="0">
                <a:effectLst/>
              </a:rPr>
              <a:t>BANK  LOAN  DEFAULT RISK  ANALYSIS</a:t>
            </a:r>
            <a:endParaRPr lang="en-US" sz="48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4857D70-F12B-4E1B-99F8-92DAD4349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3023" y="5116225"/>
            <a:ext cx="5568596" cy="620016"/>
          </a:xfrm>
          <a:gradFill>
            <a:gsLst>
              <a:gs pos="800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/>
          <a:p>
            <a:r>
              <a:rPr lang="en-AU" dirty="0"/>
              <a:t>Presented By – Power Booster Team</a:t>
            </a:r>
            <a:endParaRPr lang="en-US" dirty="0"/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C85C272F-FCB2-478D-9E03-EC734D1AB6C0}"/>
              </a:ext>
            </a:extLst>
          </p:cNvPr>
          <p:cNvSpPr/>
          <p:nvPr/>
        </p:nvSpPr>
        <p:spPr bwMode="white">
          <a:xfrm>
            <a:off x="3758710" y="3578087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136CB0-4ED9-43FA-81D5-6D322579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024" y="4896463"/>
            <a:ext cx="2885950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593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5C84B00A-2062-4E70-8AD4-A114464A6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584" y="2238573"/>
            <a:ext cx="10629202" cy="2291045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429F02-7E8D-405F-86D3-2E794F83D8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EEC6C-3C57-4B01-80D3-53DFDB5F78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1366" y="2769080"/>
            <a:ext cx="2034138" cy="360445"/>
          </a:xfrm>
        </p:spPr>
        <p:txBody>
          <a:bodyPr/>
          <a:lstStyle/>
          <a:p>
            <a:r>
              <a:rPr lang="en-AU" noProof="1"/>
              <a:t>R</a:t>
            </a:r>
            <a:r>
              <a:rPr lang="en-US" noProof="1"/>
              <a:t>oshan Kumar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FD735F-3532-48E3-982E-20E3B7CD4E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07837" y="2764646"/>
            <a:ext cx="2034138" cy="360445"/>
          </a:xfrm>
        </p:spPr>
        <p:txBody>
          <a:bodyPr/>
          <a:lstStyle/>
          <a:p>
            <a:r>
              <a:rPr lang="en-AU" noProof="1"/>
              <a:t>Swaranjal Sharma</a:t>
            </a:r>
            <a:endParaRPr lang="en-US" noProof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044465-8F5D-4E03-90E0-7A3034CF8A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32213" y="2794166"/>
            <a:ext cx="2034138" cy="360445"/>
          </a:xfrm>
        </p:spPr>
        <p:txBody>
          <a:bodyPr/>
          <a:lstStyle/>
          <a:p>
            <a:r>
              <a:rPr lang="en-AU" noProof="1"/>
              <a:t>P</a:t>
            </a:r>
            <a:r>
              <a:rPr lang="en-US" noProof="1"/>
              <a:t>riyanshi Johari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6F0BBC-32F1-4620-B380-877B895D834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14508" y="5162271"/>
            <a:ext cx="2034138" cy="360445"/>
          </a:xfrm>
        </p:spPr>
        <p:txBody>
          <a:bodyPr/>
          <a:lstStyle/>
          <a:p>
            <a:r>
              <a:rPr lang="en-AU" noProof="1"/>
              <a:t>R</a:t>
            </a:r>
            <a:r>
              <a:rPr lang="en-US" noProof="1"/>
              <a:t>itesh Kumar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A12FCC6-43B7-4221-A65B-003F82F8816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880254" y="5226994"/>
            <a:ext cx="2034138" cy="360445"/>
          </a:xfrm>
        </p:spPr>
        <p:txBody>
          <a:bodyPr/>
          <a:lstStyle/>
          <a:p>
            <a:r>
              <a:rPr lang="en-AU" noProof="1"/>
              <a:t>R</a:t>
            </a:r>
            <a:r>
              <a:rPr lang="en-US" noProof="1"/>
              <a:t>ajat Pratap Singh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C5F3A4A-2857-4A67-818B-E62AB2121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799" y="711068"/>
            <a:ext cx="7560000" cy="370166"/>
          </a:xfrm>
        </p:spPr>
        <p:txBody>
          <a:bodyPr/>
          <a:lstStyle/>
          <a:p>
            <a:r>
              <a:rPr lang="en-US" dirty="0"/>
              <a:t>Our  TEAM  members</a:t>
            </a:r>
          </a:p>
        </p:txBody>
      </p:sp>
      <p:sp>
        <p:nvSpPr>
          <p:cNvPr id="22" name="object 7" descr="Beige rectangle">
            <a:extLst>
              <a:ext uri="{FF2B5EF4-FFF2-40B4-BE49-F238E27FC236}">
                <a16:creationId xmlns:a16="http://schemas.microsoft.com/office/drawing/2014/main" id="{FEEE4553-844E-49F9-8166-2F2E938E3677}"/>
              </a:ext>
            </a:extLst>
          </p:cNvPr>
          <p:cNvSpPr/>
          <p:nvPr/>
        </p:nvSpPr>
        <p:spPr bwMode="white">
          <a:xfrm flipV="1">
            <a:off x="566205" y="1180364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A951CEE-7CE6-4A91-B2A1-B443273C6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1911" y="1605920"/>
            <a:ext cx="1453048" cy="82020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085FEF7-45BC-4B49-8329-097F23476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2758" y="1631006"/>
            <a:ext cx="1453048" cy="82020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CCC7563-285F-46AC-90A3-8D8D6F494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05053" y="3999111"/>
            <a:ext cx="1453048" cy="82020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3D892D7-D87B-407B-85EF-921DF3E19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70799" y="4063834"/>
            <a:ext cx="1453048" cy="82020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8" name="Picture Placeholder 27" descr="School girl">
            <a:extLst>
              <a:ext uri="{FF2B5EF4-FFF2-40B4-BE49-F238E27FC236}">
                <a16:creationId xmlns:a16="http://schemas.microsoft.com/office/drawing/2014/main" id="{D29F7366-7712-40D7-B0B2-4BFB6A0405BA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07663" y="3999111"/>
            <a:ext cx="840694" cy="952546"/>
          </a:xfr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1A47850-696A-4153-953F-D3D2FB5C3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8382" y="1601486"/>
            <a:ext cx="1453048" cy="82020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7FC8E70-615A-8E0B-7973-AE58F3349908}"/>
              </a:ext>
            </a:extLst>
          </p:cNvPr>
          <p:cNvSpPr txBox="1">
            <a:spLocks/>
          </p:cNvSpPr>
          <p:nvPr/>
        </p:nvSpPr>
        <p:spPr>
          <a:xfrm>
            <a:off x="5424703" y="2808297"/>
            <a:ext cx="2034138" cy="360445"/>
          </a:xfrm>
          <a:prstGeom prst="rect">
            <a:avLst/>
          </a:prstGeom>
          <a:solidFill>
            <a:schemeClr val="tx2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800" b="0" kern="1200" cap="none" baseline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4767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2865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0962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noProof="1"/>
              <a:t>O</a:t>
            </a:r>
            <a:r>
              <a:rPr lang="en-US" noProof="1"/>
              <a:t>mveer Gangwar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BB933A-7A0A-5DE0-BE77-5827A7DBD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248" y="1645137"/>
            <a:ext cx="1453048" cy="82020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39920F39-9F11-8C32-1543-C1D40FB15775}"/>
              </a:ext>
            </a:extLst>
          </p:cNvPr>
          <p:cNvSpPr txBox="1">
            <a:spLocks/>
          </p:cNvSpPr>
          <p:nvPr/>
        </p:nvSpPr>
        <p:spPr>
          <a:xfrm>
            <a:off x="873445" y="5162271"/>
            <a:ext cx="2034138" cy="360445"/>
          </a:xfrm>
          <a:prstGeom prst="rect">
            <a:avLst/>
          </a:prstGeom>
          <a:solidFill>
            <a:schemeClr val="tx2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800" b="0" kern="1200" cap="none" baseline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4767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2865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0962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noProof="1"/>
              <a:t>R</a:t>
            </a:r>
            <a:r>
              <a:rPr lang="en-US" noProof="1"/>
              <a:t>aghav Gupta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25D953-21FB-23F6-FC46-BFB9AFD51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3990" y="3999111"/>
            <a:ext cx="1453048" cy="82020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EB96537F-65C8-0C8D-ABBE-16D837693BAF}"/>
              </a:ext>
            </a:extLst>
          </p:cNvPr>
          <p:cNvSpPr txBox="1">
            <a:spLocks/>
          </p:cNvSpPr>
          <p:nvPr/>
        </p:nvSpPr>
        <p:spPr>
          <a:xfrm>
            <a:off x="10018040" y="2806985"/>
            <a:ext cx="2034138" cy="360445"/>
          </a:xfrm>
          <a:prstGeom prst="rect">
            <a:avLst/>
          </a:prstGeom>
          <a:solidFill>
            <a:schemeClr val="tx2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800" b="0" kern="1200" cap="none" baseline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4767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2865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0962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noProof="1"/>
              <a:t>Om Kumar</a:t>
            </a:r>
            <a:endParaRPr lang="en-US" noProof="1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B621F-05AC-08D6-E72B-7A9DA20A5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08585" y="1643825"/>
            <a:ext cx="1453048" cy="82020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AE63F83D-29A3-372D-5980-8CB8B5877BE0}"/>
              </a:ext>
            </a:extLst>
          </p:cNvPr>
          <p:cNvSpPr txBox="1">
            <a:spLocks/>
          </p:cNvSpPr>
          <p:nvPr/>
        </p:nvSpPr>
        <p:spPr>
          <a:xfrm>
            <a:off x="5522018" y="5137185"/>
            <a:ext cx="2034138" cy="360445"/>
          </a:xfrm>
          <a:prstGeom prst="rect">
            <a:avLst/>
          </a:prstGeom>
          <a:solidFill>
            <a:schemeClr val="tx2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800" b="0" kern="1200" cap="none" baseline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4767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2865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0962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noProof="1"/>
              <a:t>A</a:t>
            </a:r>
            <a:r>
              <a:rPr lang="en-US" noProof="1"/>
              <a:t>kash Kumar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BBBF638-7D0E-CDDF-43AF-7D6FB66F8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12563" y="3974025"/>
            <a:ext cx="1453048" cy="82020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 Placeholder 12">
            <a:extLst>
              <a:ext uri="{FF2B5EF4-FFF2-40B4-BE49-F238E27FC236}">
                <a16:creationId xmlns:a16="http://schemas.microsoft.com/office/drawing/2014/main" id="{D8A0464E-005D-1A44-084E-E78328230ED8}"/>
              </a:ext>
            </a:extLst>
          </p:cNvPr>
          <p:cNvSpPr txBox="1">
            <a:spLocks/>
          </p:cNvSpPr>
          <p:nvPr/>
        </p:nvSpPr>
        <p:spPr>
          <a:xfrm>
            <a:off x="10011652" y="5226994"/>
            <a:ext cx="2034138" cy="360445"/>
          </a:xfrm>
          <a:prstGeom prst="rect">
            <a:avLst/>
          </a:prstGeom>
          <a:solidFill>
            <a:schemeClr val="tx2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800" b="0" kern="1200" cap="none" baseline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4767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2865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0962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noProof="1"/>
              <a:t>A</a:t>
            </a:r>
            <a:r>
              <a:rPr lang="en-US" noProof="1"/>
              <a:t>nanya Singh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A41CDBD-DD08-E255-334C-8CB29ABA7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02197" y="4063834"/>
            <a:ext cx="1453048" cy="82020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Picture Placeholder 25" descr="School boy">
            <a:extLst>
              <a:ext uri="{FF2B5EF4-FFF2-40B4-BE49-F238E27FC236}">
                <a16:creationId xmlns:a16="http://schemas.microsoft.com/office/drawing/2014/main" id="{6523E0CC-FF1D-814D-A1EF-083BE67D81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398633" y="1581785"/>
            <a:ext cx="906304" cy="906304"/>
          </a:xfrm>
          <a:prstGeom prst="rect">
            <a:avLst/>
          </a:prstGeom>
        </p:spPr>
      </p:pic>
      <p:pic>
        <p:nvPicPr>
          <p:cNvPr id="66" name="Picture Placeholder 25" descr="School boy">
            <a:extLst>
              <a:ext uri="{FF2B5EF4-FFF2-40B4-BE49-F238E27FC236}">
                <a16:creationId xmlns:a16="http://schemas.microsoft.com/office/drawing/2014/main" id="{C8E7B647-6747-8D84-BCF8-8F1B99E33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88620" y="1541197"/>
            <a:ext cx="906304" cy="906304"/>
          </a:xfrm>
          <a:prstGeom prst="rect">
            <a:avLst/>
          </a:prstGeom>
        </p:spPr>
      </p:pic>
      <p:pic>
        <p:nvPicPr>
          <p:cNvPr id="67" name="Picture Placeholder 25" descr="School boy">
            <a:extLst>
              <a:ext uri="{FF2B5EF4-FFF2-40B4-BE49-F238E27FC236}">
                <a16:creationId xmlns:a16="http://schemas.microsoft.com/office/drawing/2014/main" id="{641F5B37-F72D-4D4C-AD9B-91C69CE126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772704" y="1511523"/>
            <a:ext cx="906304" cy="906304"/>
          </a:xfrm>
          <a:prstGeom prst="rect">
            <a:avLst/>
          </a:prstGeom>
        </p:spPr>
      </p:pic>
      <p:pic>
        <p:nvPicPr>
          <p:cNvPr id="68" name="Picture Placeholder 25" descr="School boy">
            <a:extLst>
              <a:ext uri="{FF2B5EF4-FFF2-40B4-BE49-F238E27FC236}">
                <a16:creationId xmlns:a16="http://schemas.microsoft.com/office/drawing/2014/main" id="{D7D292F3-5F9A-3977-F403-4EDA01FE84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47266" y="1541197"/>
            <a:ext cx="906304" cy="906304"/>
          </a:xfrm>
          <a:prstGeom prst="rect">
            <a:avLst/>
          </a:prstGeom>
        </p:spPr>
      </p:pic>
      <p:pic>
        <p:nvPicPr>
          <p:cNvPr id="69" name="Picture Placeholder 25" descr="School boy">
            <a:extLst>
              <a:ext uri="{FF2B5EF4-FFF2-40B4-BE49-F238E27FC236}">
                <a16:creationId xmlns:a16="http://schemas.microsoft.com/office/drawing/2014/main" id="{59A32BA9-C9C9-6E40-376D-FA1992382E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487740" y="3966267"/>
            <a:ext cx="906304" cy="906304"/>
          </a:xfrm>
          <a:prstGeom prst="rect">
            <a:avLst/>
          </a:prstGeom>
        </p:spPr>
      </p:pic>
      <p:pic>
        <p:nvPicPr>
          <p:cNvPr id="70" name="Picture Placeholder 25" descr="School boy">
            <a:extLst>
              <a:ext uri="{FF2B5EF4-FFF2-40B4-BE49-F238E27FC236}">
                <a16:creationId xmlns:a16="http://schemas.microsoft.com/office/drawing/2014/main" id="{372E8247-CBAA-9D4C-FC09-961D7E1179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042366" y="3927098"/>
            <a:ext cx="906304" cy="906304"/>
          </a:xfrm>
          <a:prstGeom prst="rect">
            <a:avLst/>
          </a:prstGeom>
        </p:spPr>
      </p:pic>
      <p:pic>
        <p:nvPicPr>
          <p:cNvPr id="71" name="Picture Placeholder 25" descr="School boy">
            <a:extLst>
              <a:ext uri="{FF2B5EF4-FFF2-40B4-BE49-F238E27FC236}">
                <a16:creationId xmlns:a16="http://schemas.microsoft.com/office/drawing/2014/main" id="{EB86BF3D-B75A-3615-AE62-B91A4E15FA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416053" y="3939641"/>
            <a:ext cx="906304" cy="906304"/>
          </a:xfrm>
          <a:prstGeom prst="rect">
            <a:avLst/>
          </a:prstGeom>
        </p:spPr>
      </p:pic>
      <p:pic>
        <p:nvPicPr>
          <p:cNvPr id="72" name="Picture Placeholder 25" descr="School boy">
            <a:extLst>
              <a:ext uri="{FF2B5EF4-FFF2-40B4-BE49-F238E27FC236}">
                <a16:creationId xmlns:a16="http://schemas.microsoft.com/office/drawing/2014/main" id="{6798693C-4F9F-9D05-630F-F924ACE281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729209" y="3956062"/>
            <a:ext cx="906304" cy="906304"/>
          </a:xfrm>
          <a:prstGeom prst="rect">
            <a:avLst/>
          </a:prstGeom>
        </p:spPr>
      </p:pic>
      <p:pic>
        <p:nvPicPr>
          <p:cNvPr id="73" name="Picture Placeholder 27" descr="School girl">
            <a:extLst>
              <a:ext uri="{FF2B5EF4-FFF2-40B4-BE49-F238E27FC236}">
                <a16:creationId xmlns:a16="http://schemas.microsoft.com/office/drawing/2014/main" id="{A78A87F3-85EB-0A59-923F-694CF7E73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94657" y="1558664"/>
            <a:ext cx="840694" cy="95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06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86D7D4AC-BE7B-45B9-AF4A-E2AF1B6C796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012000" cy="6858000"/>
          </a:xfr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D509E5E-F68C-4F2B-8EC7-43259586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9877" y="0"/>
            <a:ext cx="7197605" cy="685800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BE4A06-2673-41EF-AF84-96B0EDEC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218" y="1884728"/>
            <a:ext cx="4585966" cy="545541"/>
          </a:xfrm>
        </p:spPr>
        <p:txBody>
          <a:bodyPr/>
          <a:lstStyle/>
          <a:p>
            <a:r>
              <a:rPr lang="en-US" sz="3600" dirty="0"/>
              <a:t>INTRODUCTION</a:t>
            </a:r>
          </a:p>
        </p:txBody>
      </p:sp>
      <p:sp>
        <p:nvSpPr>
          <p:cNvPr id="9" name="object 7" descr="Beige rectangle">
            <a:extLst>
              <a:ext uri="{FF2B5EF4-FFF2-40B4-BE49-F238E27FC236}">
                <a16:creationId xmlns:a16="http://schemas.microsoft.com/office/drawing/2014/main" id="{400AB11A-4D5E-4CDE-BB60-C8578F59C3E0}"/>
              </a:ext>
            </a:extLst>
          </p:cNvPr>
          <p:cNvSpPr/>
          <p:nvPr/>
        </p:nvSpPr>
        <p:spPr bwMode="white">
          <a:xfrm>
            <a:off x="2698218" y="2430269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36" name="Group 35" descr="Icon Lightbulb">
            <a:extLst>
              <a:ext uri="{FF2B5EF4-FFF2-40B4-BE49-F238E27FC236}">
                <a16:creationId xmlns:a16="http://schemas.microsoft.com/office/drawing/2014/main" id="{840CA54E-FBB9-4848-A45D-E086AA4A5012}"/>
              </a:ext>
            </a:extLst>
          </p:cNvPr>
          <p:cNvGrpSpPr>
            <a:grpSpLocks noChangeAspect="1"/>
          </p:cNvGrpSpPr>
          <p:nvPr/>
        </p:nvGrpSpPr>
        <p:grpSpPr>
          <a:xfrm>
            <a:off x="1985343" y="1822211"/>
            <a:ext cx="362015" cy="584795"/>
            <a:chOff x="1684741" y="3186732"/>
            <a:chExt cx="530027" cy="856197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8ABB65B-B8A5-4C0E-BE4C-E88A7BB3E8A2}"/>
                </a:ext>
              </a:extLst>
            </p:cNvPr>
            <p:cNvSpPr/>
            <p:nvPr/>
          </p:nvSpPr>
          <p:spPr>
            <a:xfrm>
              <a:off x="1817248" y="3777916"/>
              <a:ext cx="265013" cy="61157"/>
            </a:xfrm>
            <a:custGeom>
              <a:avLst/>
              <a:gdLst>
                <a:gd name="connsiteX0" fmla="*/ 30578 w 265013"/>
                <a:gd name="connsiteY0" fmla="*/ 0 h 61156"/>
                <a:gd name="connsiteX1" fmla="*/ 234435 w 265013"/>
                <a:gd name="connsiteY1" fmla="*/ 0 h 61156"/>
                <a:gd name="connsiteX2" fmla="*/ 265013 w 265013"/>
                <a:gd name="connsiteY2" fmla="*/ 30578 h 61156"/>
                <a:gd name="connsiteX3" fmla="*/ 234435 w 265013"/>
                <a:gd name="connsiteY3" fmla="*/ 61157 h 61156"/>
                <a:gd name="connsiteX4" fmla="*/ 30578 w 265013"/>
                <a:gd name="connsiteY4" fmla="*/ 61157 h 61156"/>
                <a:gd name="connsiteX5" fmla="*/ 0 w 265013"/>
                <a:gd name="connsiteY5" fmla="*/ 30578 h 61156"/>
                <a:gd name="connsiteX6" fmla="*/ 30578 w 265013"/>
                <a:gd name="connsiteY6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013" h="61156">
                  <a:moveTo>
                    <a:pt x="30578" y="0"/>
                  </a:moveTo>
                  <a:lnTo>
                    <a:pt x="234435" y="0"/>
                  </a:lnTo>
                  <a:cubicBezTo>
                    <a:pt x="251763" y="0"/>
                    <a:pt x="265013" y="13251"/>
                    <a:pt x="265013" y="30578"/>
                  </a:cubicBezTo>
                  <a:cubicBezTo>
                    <a:pt x="265013" y="47906"/>
                    <a:pt x="251763" y="61157"/>
                    <a:pt x="234435" y="61157"/>
                  </a:cubicBezTo>
                  <a:lnTo>
                    <a:pt x="30578" y="61157"/>
                  </a:lnTo>
                  <a:cubicBezTo>
                    <a:pt x="13251" y="61157"/>
                    <a:pt x="0" y="47906"/>
                    <a:pt x="0" y="30578"/>
                  </a:cubicBezTo>
                  <a:cubicBezTo>
                    <a:pt x="0" y="13251"/>
                    <a:pt x="13251" y="0"/>
                    <a:pt x="30578" y="0"/>
                  </a:cubicBez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71DD07A-CE80-41D5-AEEB-65192AD34639}"/>
                </a:ext>
              </a:extLst>
            </p:cNvPr>
            <p:cNvSpPr/>
            <p:nvPr/>
          </p:nvSpPr>
          <p:spPr>
            <a:xfrm>
              <a:off x="1817248" y="3879844"/>
              <a:ext cx="265013" cy="61157"/>
            </a:xfrm>
            <a:custGeom>
              <a:avLst/>
              <a:gdLst>
                <a:gd name="connsiteX0" fmla="*/ 30578 w 265013"/>
                <a:gd name="connsiteY0" fmla="*/ 0 h 61156"/>
                <a:gd name="connsiteX1" fmla="*/ 234435 w 265013"/>
                <a:gd name="connsiteY1" fmla="*/ 0 h 61156"/>
                <a:gd name="connsiteX2" fmla="*/ 265013 w 265013"/>
                <a:gd name="connsiteY2" fmla="*/ 30578 h 61156"/>
                <a:gd name="connsiteX3" fmla="*/ 234435 w 265013"/>
                <a:gd name="connsiteY3" fmla="*/ 61157 h 61156"/>
                <a:gd name="connsiteX4" fmla="*/ 30578 w 265013"/>
                <a:gd name="connsiteY4" fmla="*/ 61157 h 61156"/>
                <a:gd name="connsiteX5" fmla="*/ 0 w 265013"/>
                <a:gd name="connsiteY5" fmla="*/ 30578 h 61156"/>
                <a:gd name="connsiteX6" fmla="*/ 30578 w 265013"/>
                <a:gd name="connsiteY6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013" h="61156">
                  <a:moveTo>
                    <a:pt x="30578" y="0"/>
                  </a:moveTo>
                  <a:lnTo>
                    <a:pt x="234435" y="0"/>
                  </a:lnTo>
                  <a:cubicBezTo>
                    <a:pt x="251763" y="0"/>
                    <a:pt x="265013" y="13251"/>
                    <a:pt x="265013" y="30578"/>
                  </a:cubicBezTo>
                  <a:cubicBezTo>
                    <a:pt x="265013" y="47906"/>
                    <a:pt x="251763" y="61157"/>
                    <a:pt x="234435" y="61157"/>
                  </a:cubicBezTo>
                  <a:lnTo>
                    <a:pt x="30578" y="61157"/>
                  </a:lnTo>
                  <a:cubicBezTo>
                    <a:pt x="13251" y="61157"/>
                    <a:pt x="0" y="47906"/>
                    <a:pt x="0" y="30578"/>
                  </a:cubicBezTo>
                  <a:cubicBezTo>
                    <a:pt x="0" y="13251"/>
                    <a:pt x="13251" y="0"/>
                    <a:pt x="30578" y="0"/>
                  </a:cubicBez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522D638-DE3D-438D-8C73-954C32D8CB63}"/>
                </a:ext>
              </a:extLst>
            </p:cNvPr>
            <p:cNvSpPr/>
            <p:nvPr/>
          </p:nvSpPr>
          <p:spPr>
            <a:xfrm>
              <a:off x="1883501" y="3981772"/>
              <a:ext cx="132507" cy="61157"/>
            </a:xfrm>
            <a:custGeom>
              <a:avLst/>
              <a:gdLst>
                <a:gd name="connsiteX0" fmla="*/ 0 w 132506"/>
                <a:gd name="connsiteY0" fmla="*/ 0 h 61156"/>
                <a:gd name="connsiteX1" fmla="*/ 66253 w 132506"/>
                <a:gd name="connsiteY1" fmla="*/ 61157 h 61156"/>
                <a:gd name="connsiteX2" fmla="*/ 132507 w 132506"/>
                <a:gd name="connsiteY2" fmla="*/ 0 h 61156"/>
                <a:gd name="connsiteX3" fmla="*/ 0 w 132506"/>
                <a:gd name="connsiteY3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506" h="61156">
                  <a:moveTo>
                    <a:pt x="0" y="0"/>
                  </a:moveTo>
                  <a:cubicBezTo>
                    <a:pt x="3058" y="34656"/>
                    <a:pt x="31598" y="61157"/>
                    <a:pt x="66253" y="61157"/>
                  </a:cubicBezTo>
                  <a:cubicBezTo>
                    <a:pt x="100909" y="61157"/>
                    <a:pt x="129449" y="34656"/>
                    <a:pt x="13250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1AB190E-B14D-440E-9910-B22D8C998B54}"/>
                </a:ext>
              </a:extLst>
            </p:cNvPr>
            <p:cNvSpPr/>
            <p:nvPr/>
          </p:nvSpPr>
          <p:spPr>
            <a:xfrm>
              <a:off x="1684741" y="3186732"/>
              <a:ext cx="530027" cy="550412"/>
            </a:xfrm>
            <a:custGeom>
              <a:avLst/>
              <a:gdLst>
                <a:gd name="connsiteX0" fmla="*/ 265013 w 530026"/>
                <a:gd name="connsiteY0" fmla="*/ 0 h 550412"/>
                <a:gd name="connsiteX1" fmla="*/ 265013 w 530026"/>
                <a:gd name="connsiteY1" fmla="*/ 0 h 550412"/>
                <a:gd name="connsiteX2" fmla="*/ 265013 w 530026"/>
                <a:gd name="connsiteY2" fmla="*/ 0 h 550412"/>
                <a:gd name="connsiteX3" fmla="*/ 0 w 530026"/>
                <a:gd name="connsiteY3" fmla="*/ 261956 h 550412"/>
                <a:gd name="connsiteX4" fmla="*/ 0 w 530026"/>
                <a:gd name="connsiteY4" fmla="*/ 271129 h 550412"/>
                <a:gd name="connsiteX5" fmla="*/ 18347 w 530026"/>
                <a:gd name="connsiteY5" fmla="*/ 362864 h 550412"/>
                <a:gd name="connsiteX6" fmla="*/ 64215 w 530026"/>
                <a:gd name="connsiteY6" fmla="*/ 438291 h 550412"/>
                <a:gd name="connsiteX7" fmla="*/ 126391 w 530026"/>
                <a:gd name="connsiteY7" fmla="*/ 539200 h 550412"/>
                <a:gd name="connsiteX8" fmla="*/ 144738 w 530026"/>
                <a:gd name="connsiteY8" fmla="*/ 550412 h 550412"/>
                <a:gd name="connsiteX9" fmla="*/ 385289 w 530026"/>
                <a:gd name="connsiteY9" fmla="*/ 550412 h 550412"/>
                <a:gd name="connsiteX10" fmla="*/ 403636 w 530026"/>
                <a:gd name="connsiteY10" fmla="*/ 539200 h 550412"/>
                <a:gd name="connsiteX11" fmla="*/ 465812 w 530026"/>
                <a:gd name="connsiteY11" fmla="*/ 438291 h 550412"/>
                <a:gd name="connsiteX12" fmla="*/ 511680 w 530026"/>
                <a:gd name="connsiteY12" fmla="*/ 362864 h 550412"/>
                <a:gd name="connsiteX13" fmla="*/ 530027 w 530026"/>
                <a:gd name="connsiteY13" fmla="*/ 271129 h 550412"/>
                <a:gd name="connsiteX14" fmla="*/ 530027 w 530026"/>
                <a:gd name="connsiteY14" fmla="*/ 261956 h 550412"/>
                <a:gd name="connsiteX15" fmla="*/ 265013 w 530026"/>
                <a:gd name="connsiteY15" fmla="*/ 0 h 550412"/>
                <a:gd name="connsiteX16" fmla="*/ 468870 w 530026"/>
                <a:gd name="connsiteY16" fmla="*/ 270110 h 550412"/>
                <a:gd name="connsiteX17" fmla="*/ 454600 w 530026"/>
                <a:gd name="connsiteY17" fmla="*/ 341460 h 550412"/>
                <a:gd name="connsiteX18" fmla="*/ 419944 w 530026"/>
                <a:gd name="connsiteY18" fmla="*/ 397520 h 550412"/>
                <a:gd name="connsiteX19" fmla="*/ 360826 w 530026"/>
                <a:gd name="connsiteY19" fmla="*/ 489256 h 550412"/>
                <a:gd name="connsiteX20" fmla="*/ 265013 w 530026"/>
                <a:gd name="connsiteY20" fmla="*/ 489256 h 550412"/>
                <a:gd name="connsiteX21" fmla="*/ 170220 w 530026"/>
                <a:gd name="connsiteY21" fmla="*/ 489256 h 550412"/>
                <a:gd name="connsiteX22" fmla="*/ 111102 w 530026"/>
                <a:gd name="connsiteY22" fmla="*/ 397520 h 550412"/>
                <a:gd name="connsiteX23" fmla="*/ 76446 w 530026"/>
                <a:gd name="connsiteY23" fmla="*/ 341460 h 550412"/>
                <a:gd name="connsiteX24" fmla="*/ 62176 w 530026"/>
                <a:gd name="connsiteY24" fmla="*/ 270110 h 550412"/>
                <a:gd name="connsiteX25" fmla="*/ 62176 w 530026"/>
                <a:gd name="connsiteY25" fmla="*/ 261956 h 550412"/>
                <a:gd name="connsiteX26" fmla="*/ 266033 w 530026"/>
                <a:gd name="connsiteY26" fmla="*/ 60138 h 550412"/>
                <a:gd name="connsiteX27" fmla="*/ 266033 w 530026"/>
                <a:gd name="connsiteY27" fmla="*/ 60138 h 550412"/>
                <a:gd name="connsiteX28" fmla="*/ 266033 w 530026"/>
                <a:gd name="connsiteY28" fmla="*/ 60138 h 550412"/>
                <a:gd name="connsiteX29" fmla="*/ 266033 w 530026"/>
                <a:gd name="connsiteY29" fmla="*/ 60138 h 550412"/>
                <a:gd name="connsiteX30" fmla="*/ 266033 w 530026"/>
                <a:gd name="connsiteY30" fmla="*/ 60138 h 550412"/>
                <a:gd name="connsiteX31" fmla="*/ 266033 w 530026"/>
                <a:gd name="connsiteY31" fmla="*/ 60138 h 550412"/>
                <a:gd name="connsiteX32" fmla="*/ 266033 w 530026"/>
                <a:gd name="connsiteY32" fmla="*/ 60138 h 550412"/>
                <a:gd name="connsiteX33" fmla="*/ 469889 w 530026"/>
                <a:gd name="connsiteY33" fmla="*/ 261956 h 550412"/>
                <a:gd name="connsiteX34" fmla="*/ 469889 w 530026"/>
                <a:gd name="connsiteY34" fmla="*/ 270110 h 550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30026" h="550412">
                  <a:moveTo>
                    <a:pt x="265013" y="0"/>
                  </a:moveTo>
                  <a:cubicBezTo>
                    <a:pt x="265013" y="0"/>
                    <a:pt x="265013" y="0"/>
                    <a:pt x="265013" y="0"/>
                  </a:cubicBezTo>
                  <a:cubicBezTo>
                    <a:pt x="265013" y="0"/>
                    <a:pt x="265013" y="0"/>
                    <a:pt x="265013" y="0"/>
                  </a:cubicBezTo>
                  <a:cubicBezTo>
                    <a:pt x="120275" y="1019"/>
                    <a:pt x="3058" y="117217"/>
                    <a:pt x="0" y="261956"/>
                  </a:cubicBezTo>
                  <a:lnTo>
                    <a:pt x="0" y="271129"/>
                  </a:lnTo>
                  <a:cubicBezTo>
                    <a:pt x="1019" y="302727"/>
                    <a:pt x="7135" y="333305"/>
                    <a:pt x="18347" y="362864"/>
                  </a:cubicBezTo>
                  <a:cubicBezTo>
                    <a:pt x="29559" y="390385"/>
                    <a:pt x="44848" y="415867"/>
                    <a:pt x="64215" y="438291"/>
                  </a:cubicBezTo>
                  <a:cubicBezTo>
                    <a:pt x="88678" y="464793"/>
                    <a:pt x="115179" y="516776"/>
                    <a:pt x="126391" y="539200"/>
                  </a:cubicBezTo>
                  <a:cubicBezTo>
                    <a:pt x="129449" y="546335"/>
                    <a:pt x="136584" y="550412"/>
                    <a:pt x="144738" y="550412"/>
                  </a:cubicBezTo>
                  <a:lnTo>
                    <a:pt x="385289" y="550412"/>
                  </a:lnTo>
                  <a:cubicBezTo>
                    <a:pt x="393443" y="550412"/>
                    <a:pt x="400578" y="546335"/>
                    <a:pt x="403636" y="539200"/>
                  </a:cubicBezTo>
                  <a:cubicBezTo>
                    <a:pt x="414848" y="516776"/>
                    <a:pt x="441349" y="464793"/>
                    <a:pt x="465812" y="438291"/>
                  </a:cubicBezTo>
                  <a:cubicBezTo>
                    <a:pt x="485178" y="415867"/>
                    <a:pt x="501487" y="390385"/>
                    <a:pt x="511680" y="362864"/>
                  </a:cubicBezTo>
                  <a:cubicBezTo>
                    <a:pt x="522892" y="333305"/>
                    <a:pt x="529008" y="302727"/>
                    <a:pt x="530027" y="271129"/>
                  </a:cubicBezTo>
                  <a:lnTo>
                    <a:pt x="530027" y="261956"/>
                  </a:lnTo>
                  <a:cubicBezTo>
                    <a:pt x="526969" y="117217"/>
                    <a:pt x="409752" y="1019"/>
                    <a:pt x="265013" y="0"/>
                  </a:cubicBezTo>
                  <a:close/>
                  <a:moveTo>
                    <a:pt x="468870" y="270110"/>
                  </a:moveTo>
                  <a:cubicBezTo>
                    <a:pt x="467851" y="294573"/>
                    <a:pt x="462754" y="319035"/>
                    <a:pt x="454600" y="341460"/>
                  </a:cubicBezTo>
                  <a:cubicBezTo>
                    <a:pt x="446446" y="361845"/>
                    <a:pt x="435234" y="381212"/>
                    <a:pt x="419944" y="397520"/>
                  </a:cubicBezTo>
                  <a:cubicBezTo>
                    <a:pt x="396501" y="426060"/>
                    <a:pt x="376115" y="456638"/>
                    <a:pt x="360826" y="489256"/>
                  </a:cubicBezTo>
                  <a:lnTo>
                    <a:pt x="265013" y="489256"/>
                  </a:lnTo>
                  <a:lnTo>
                    <a:pt x="170220" y="489256"/>
                  </a:lnTo>
                  <a:cubicBezTo>
                    <a:pt x="153912" y="456638"/>
                    <a:pt x="133526" y="426060"/>
                    <a:pt x="111102" y="397520"/>
                  </a:cubicBezTo>
                  <a:cubicBezTo>
                    <a:pt x="96832" y="381212"/>
                    <a:pt x="84600" y="361845"/>
                    <a:pt x="76446" y="341460"/>
                  </a:cubicBezTo>
                  <a:cubicBezTo>
                    <a:pt x="67273" y="319035"/>
                    <a:pt x="63196" y="294573"/>
                    <a:pt x="62176" y="270110"/>
                  </a:cubicBezTo>
                  <a:lnTo>
                    <a:pt x="62176" y="261956"/>
                  </a:lnTo>
                  <a:cubicBezTo>
                    <a:pt x="64215" y="150854"/>
                    <a:pt x="154931" y="61157"/>
                    <a:pt x="266033" y="60138"/>
                  </a:cubicBezTo>
                  <a:lnTo>
                    <a:pt x="266033" y="60138"/>
                  </a:lnTo>
                  <a:lnTo>
                    <a:pt x="266033" y="60138"/>
                  </a:lnTo>
                  <a:cubicBezTo>
                    <a:pt x="266033" y="60138"/>
                    <a:pt x="266033" y="60138"/>
                    <a:pt x="266033" y="60138"/>
                  </a:cubicBezTo>
                  <a:cubicBezTo>
                    <a:pt x="266033" y="60138"/>
                    <a:pt x="266033" y="60138"/>
                    <a:pt x="266033" y="60138"/>
                  </a:cubicBezTo>
                  <a:lnTo>
                    <a:pt x="266033" y="60138"/>
                  </a:lnTo>
                  <a:lnTo>
                    <a:pt x="266033" y="60138"/>
                  </a:lnTo>
                  <a:cubicBezTo>
                    <a:pt x="377134" y="61157"/>
                    <a:pt x="467851" y="149835"/>
                    <a:pt x="469889" y="261956"/>
                  </a:cubicBezTo>
                  <a:lnTo>
                    <a:pt x="469889" y="270110"/>
                  </a:ln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C3FC51DE-D10A-4DE8-A7E3-22FA2E4FC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13885" y="6485405"/>
            <a:ext cx="6058183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947A81F6-261F-44F4-B660-7BD323AE29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DC0198-E919-4071-9C4B-5B3D19A46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713142" y="1661400"/>
            <a:ext cx="906419" cy="906419"/>
            <a:chOff x="5482999" y="1607028"/>
            <a:chExt cx="1200866" cy="120086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67DDF34-4085-4945-A320-585AC8EBAAF2}"/>
                </a:ext>
              </a:extLst>
            </p:cNvPr>
            <p:cNvSpPr/>
            <p:nvPr/>
          </p:nvSpPr>
          <p:spPr>
            <a:xfrm>
              <a:off x="5587207" y="1711236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521D40-9109-4214-B458-FAB53B1DA80D}"/>
                </a:ext>
              </a:extLst>
            </p:cNvPr>
            <p:cNvSpPr/>
            <p:nvPr/>
          </p:nvSpPr>
          <p:spPr>
            <a:xfrm>
              <a:off x="5482999" y="1607028"/>
              <a:ext cx="1200866" cy="120086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C61165-197F-561A-0120-10F411522302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775736" y="2813310"/>
            <a:ext cx="7121630" cy="2478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Helps banks predict whether a customer will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repay or default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on a loan.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Uses data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age, employment, income, property, and past defaults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safe and data-driven lending decisions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Reduces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financial losses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by identifying high-risk customers early.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Improves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loan approval accuracy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overall credit management.</a:t>
            </a:r>
          </a:p>
        </p:txBody>
      </p:sp>
    </p:spTree>
    <p:extLst>
      <p:ext uri="{BB962C8B-B14F-4D97-AF65-F5344CB8AC3E}">
        <p14:creationId xmlns:p14="http://schemas.microsoft.com/office/powerpoint/2010/main" val="3043203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Placeholder 47" descr="Doctor pointing at CAT scans">
            <a:extLst>
              <a:ext uri="{FF2B5EF4-FFF2-40B4-BE49-F238E27FC236}">
                <a16:creationId xmlns:a16="http://schemas.microsoft.com/office/drawing/2014/main" id="{51DAB4F3-6A41-481C-8A3E-932EDFC9FED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0000" y="179109"/>
            <a:ext cx="11832000" cy="6513922"/>
          </a:xfr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3CBC84C2-2B48-4B15-A420-8B5F2BDE2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4E91A8-F608-453C-810A-BE9918180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DATA COLLECTION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B898379A-942F-47A5-80B4-B1C6F09FCB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* According to a Survey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DB908-45C5-4999-982F-0A82DA013F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B821A5-5262-4D44-AFEB-D049F229C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213" y="3097188"/>
            <a:ext cx="1652587" cy="435600"/>
          </a:xfrm>
        </p:spPr>
        <p:txBody>
          <a:bodyPr/>
          <a:lstStyle/>
          <a:p>
            <a:r>
              <a:rPr lang="en-US" dirty="0"/>
              <a:t>64.4%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27E535-262E-40B8-A9E1-0C08FFD809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455" y="3695377"/>
            <a:ext cx="1999889" cy="846137"/>
          </a:xfrm>
        </p:spPr>
        <p:txBody>
          <a:bodyPr/>
          <a:lstStyle/>
          <a:p>
            <a:r>
              <a:rPr lang="en-US" dirty="0"/>
              <a:t> Bank loan Risk dataset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0E095F-965E-476E-B681-EE615BECB0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71013" y="3097188"/>
            <a:ext cx="1652587" cy="435600"/>
          </a:xfrm>
        </p:spPr>
        <p:txBody>
          <a:bodyPr/>
          <a:lstStyle/>
          <a:p>
            <a:r>
              <a:rPr lang="en-AU" dirty="0"/>
              <a:t>3</a:t>
            </a:r>
            <a:r>
              <a:rPr lang="en-US" dirty="0"/>
              <a:t>0k- 2M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5735F7-BDC6-4ACD-B0DE-4AB63D30B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70799" y="3695377"/>
            <a:ext cx="1652801" cy="846137"/>
          </a:xfrm>
        </p:spPr>
        <p:txBody>
          <a:bodyPr/>
          <a:lstStyle/>
          <a:p>
            <a:r>
              <a:rPr lang="en-US" dirty="0"/>
              <a:t>Income</a:t>
            </a:r>
          </a:p>
          <a:p>
            <a:r>
              <a:rPr lang="en-US" dirty="0"/>
              <a:t>Age(18,70)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405F6BC-5682-4AA1-9F61-DDF021E685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69707" y="3097188"/>
            <a:ext cx="1652587" cy="435600"/>
          </a:xfrm>
        </p:spPr>
        <p:txBody>
          <a:bodyPr/>
          <a:lstStyle/>
          <a:p>
            <a:r>
              <a:rPr lang="en-AU" dirty="0"/>
              <a:t>1</a:t>
            </a:r>
            <a:r>
              <a:rPr lang="en-US" dirty="0"/>
              <a:t>m –  10BN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7BC20BC-85E6-48CD-B755-5D4149953C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69600" y="3695377"/>
            <a:ext cx="1652801" cy="846137"/>
          </a:xfrm>
        </p:spPr>
        <p:txBody>
          <a:bodyPr/>
          <a:lstStyle/>
          <a:p>
            <a:r>
              <a:rPr lang="en-US" dirty="0"/>
              <a:t>Loan Amount Range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DFBC7A3-AAE6-4502-9D44-F253ED1E8F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544613" y="3097188"/>
            <a:ext cx="1652587" cy="435600"/>
          </a:xfrm>
        </p:spPr>
        <p:txBody>
          <a:bodyPr/>
          <a:lstStyle/>
          <a:p>
            <a:r>
              <a:rPr lang="en-US" dirty="0"/>
              <a:t>15,000+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C6EAD81-841A-483E-9B44-512A1470E47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70855" y="3695377"/>
            <a:ext cx="1999889" cy="846137"/>
          </a:xfrm>
        </p:spPr>
        <p:txBody>
          <a:bodyPr/>
          <a:lstStyle/>
          <a:p>
            <a:r>
              <a:rPr lang="en-US" dirty="0"/>
              <a:t>Total Records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10C0A43-6ED0-45F1-9DF9-5F2F32278B1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831412" y="3097188"/>
            <a:ext cx="1652587" cy="435600"/>
          </a:xfrm>
        </p:spPr>
        <p:txBody>
          <a:bodyPr/>
          <a:lstStyle/>
          <a:p>
            <a:r>
              <a:rPr lang="en-US" dirty="0"/>
              <a:t>60-80%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8028AA-13B5-4B26-947A-231084A75CD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57654" y="3695377"/>
            <a:ext cx="1999889" cy="846137"/>
          </a:xfrm>
        </p:spPr>
        <p:txBody>
          <a:bodyPr/>
          <a:lstStyle/>
          <a:p>
            <a:r>
              <a:rPr lang="en-US" dirty="0"/>
              <a:t>Credit Score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65657426-6073-47AB-BB7D-5ED2CAFD6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1000" y="5137535"/>
            <a:ext cx="1990001" cy="620016"/>
          </a:xfrm>
        </p:spPr>
        <p:txBody>
          <a:bodyPr/>
          <a:lstStyle/>
          <a:p>
            <a:r>
              <a:rPr lang="en-US" dirty="0"/>
              <a:t>Success</a:t>
            </a:r>
          </a:p>
        </p:txBody>
      </p:sp>
      <p:pic>
        <p:nvPicPr>
          <p:cNvPr id="46" name="Picture Placeholder 45" descr="Team">
            <a:extLst>
              <a:ext uri="{FF2B5EF4-FFF2-40B4-BE49-F238E27FC236}">
                <a16:creationId xmlns:a16="http://schemas.microsoft.com/office/drawing/2014/main" id="{09833D49-61B1-40F0-A9D1-6D1D4B8701A1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332573" y="2425002"/>
            <a:ext cx="384361" cy="384361"/>
          </a:xfrm>
        </p:spPr>
      </p:pic>
      <p:pic>
        <p:nvPicPr>
          <p:cNvPr id="53" name="Picture Placeholder 52" descr="Wallet">
            <a:extLst>
              <a:ext uri="{FF2B5EF4-FFF2-40B4-BE49-F238E27FC236}">
                <a16:creationId xmlns:a16="http://schemas.microsoft.com/office/drawing/2014/main" id="{560A3C83-28A8-4054-B787-033808650715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5903820" y="2437246"/>
            <a:ext cx="384361" cy="384361"/>
          </a:xfrm>
        </p:spPr>
      </p:pic>
      <p:pic>
        <p:nvPicPr>
          <p:cNvPr id="60" name="Picture Placeholder 59" descr="Upward trend">
            <a:extLst>
              <a:ext uri="{FF2B5EF4-FFF2-40B4-BE49-F238E27FC236}">
                <a16:creationId xmlns:a16="http://schemas.microsoft.com/office/drawing/2014/main" id="{8C1A4036-A328-4600-8C42-B65922A2C149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0465525" y="2437246"/>
            <a:ext cx="384361" cy="384361"/>
          </a:xfrm>
        </p:spPr>
      </p:pic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9B6BE182-7444-49DA-B6FA-215DD68D50CA}"/>
              </a:ext>
            </a:extLst>
          </p:cNvPr>
          <p:cNvSpPr/>
          <p:nvPr/>
        </p:nvSpPr>
        <p:spPr bwMode="white">
          <a:xfrm>
            <a:off x="722099" y="1322787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C6D3F76-4C60-4559-AE48-60D6FBDC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759100" y="4527746"/>
            <a:ext cx="0" cy="311308"/>
          </a:xfrm>
          <a:prstGeom prst="line">
            <a:avLst/>
          </a:prstGeom>
          <a:ln w="3175">
            <a:solidFill>
              <a:schemeClr val="bg2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CA93ACF-485A-4938-9815-8D5DFE312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6096000" y="4527746"/>
            <a:ext cx="1" cy="311308"/>
          </a:xfrm>
          <a:prstGeom prst="line">
            <a:avLst/>
          </a:prstGeom>
          <a:ln w="3175">
            <a:solidFill>
              <a:schemeClr val="bg2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8070A33-7382-44AE-AC77-685B09986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8332700" y="4527746"/>
            <a:ext cx="0" cy="311308"/>
          </a:xfrm>
          <a:prstGeom prst="line">
            <a:avLst/>
          </a:prstGeom>
          <a:ln w="3175">
            <a:solidFill>
              <a:schemeClr val="bg2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79784603-2F8F-493A-894B-9ECFC3587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81478" y="5747713"/>
            <a:ext cx="1629044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9A6C85E8-3D95-45FE-A577-C08E6E920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rot="16200000" flipH="1">
            <a:off x="3505190" y="2546723"/>
            <a:ext cx="596021" cy="4585601"/>
          </a:xfrm>
          <a:prstGeom prst="bentConnector3">
            <a:avLst>
              <a:gd name="adj1" fmla="val 50000"/>
            </a:avLst>
          </a:prstGeom>
          <a:ln w="3175">
            <a:solidFill>
              <a:schemeClr val="bg2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F1BB5F7E-073B-4BF0-8FA1-F724BA8DB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5400000">
            <a:off x="8078790" y="2558725"/>
            <a:ext cx="596021" cy="4561598"/>
          </a:xfrm>
          <a:prstGeom prst="bentConnector3">
            <a:avLst>
              <a:gd name="adj1" fmla="val 50000"/>
            </a:avLst>
          </a:prstGeom>
          <a:ln w="3175">
            <a:solidFill>
              <a:schemeClr val="bg2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2935599-B9F0-4312-864E-F6E3EF1AA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3380336" y="2224959"/>
            <a:ext cx="896287" cy="745643"/>
            <a:chOff x="1824638" y="1733550"/>
            <a:chExt cx="1192959" cy="99245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6718F85-02C5-4814-847B-818C8CCE6A2E}"/>
                </a:ext>
              </a:extLst>
            </p:cNvPr>
            <p:cNvSpPr/>
            <p:nvPr/>
          </p:nvSpPr>
          <p:spPr>
            <a:xfrm>
              <a:off x="1824638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B5C2063-3BBD-48BC-BDD6-D5E9563B1934}"/>
                </a:ext>
              </a:extLst>
            </p:cNvPr>
            <p:cNvSpPr/>
            <p:nvPr/>
          </p:nvSpPr>
          <p:spPr>
            <a:xfrm>
              <a:off x="1925901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E2C35B1-F420-4244-8B67-EA845C8CA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7914029" y="2224959"/>
            <a:ext cx="896287" cy="745643"/>
            <a:chOff x="1824638" y="1733550"/>
            <a:chExt cx="1192959" cy="99245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5DB04D1-9BD5-4C35-8B33-0432F97A6012}"/>
                </a:ext>
              </a:extLst>
            </p:cNvPr>
            <p:cNvSpPr/>
            <p:nvPr/>
          </p:nvSpPr>
          <p:spPr>
            <a:xfrm>
              <a:off x="1824638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C23B33E-1386-44B0-B24A-50A8F9B55FFD}"/>
                </a:ext>
              </a:extLst>
            </p:cNvPr>
            <p:cNvSpPr/>
            <p:nvPr/>
          </p:nvSpPr>
          <p:spPr>
            <a:xfrm>
              <a:off x="1925901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5F4DD1-5663-4019-891C-8821ED8AC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5723178" y="2223240"/>
            <a:ext cx="745643" cy="745643"/>
            <a:chOff x="5482999" y="1607028"/>
            <a:chExt cx="1200866" cy="120086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AAD7458-0E1F-4289-885E-7991DEFE6E7D}"/>
                </a:ext>
              </a:extLst>
            </p:cNvPr>
            <p:cNvSpPr/>
            <p:nvPr/>
          </p:nvSpPr>
          <p:spPr>
            <a:xfrm>
              <a:off x="5587207" y="1711236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C5F22B3-BA39-4DDB-9CD2-F9F1183608D0}"/>
                </a:ext>
              </a:extLst>
            </p:cNvPr>
            <p:cNvSpPr/>
            <p:nvPr/>
          </p:nvSpPr>
          <p:spPr>
            <a:xfrm>
              <a:off x="5482999" y="1607028"/>
              <a:ext cx="1200866" cy="120086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ACC6B18-DB03-4AC5-B015-6374FF16D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0310145" y="2224959"/>
            <a:ext cx="926876" cy="745643"/>
            <a:chOff x="7901577" y="2268089"/>
            <a:chExt cx="926876" cy="74564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BAA099B-7326-44B7-B125-672BA72A6C05}"/>
                </a:ext>
              </a:extLst>
            </p:cNvPr>
            <p:cNvSpPr/>
            <p:nvPr/>
          </p:nvSpPr>
          <p:spPr>
            <a:xfrm flipH="1">
              <a:off x="8516862" y="2268089"/>
              <a:ext cx="311591" cy="745643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6107D1A-01D9-4CE4-9A22-FC55274F17C6}"/>
                </a:ext>
              </a:extLst>
            </p:cNvPr>
            <p:cNvSpPr/>
            <p:nvPr/>
          </p:nvSpPr>
          <p:spPr>
            <a:xfrm flipH="1">
              <a:off x="7901577" y="2332794"/>
              <a:ext cx="781787" cy="616234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5074261-BBC0-4AF3-AF09-C64386DBB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949886" y="2224959"/>
            <a:ext cx="926876" cy="745643"/>
            <a:chOff x="7901577" y="2268089"/>
            <a:chExt cx="926876" cy="74564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4BF8F4D-C494-48D1-8EDB-FE34A665FBEE}"/>
                </a:ext>
              </a:extLst>
            </p:cNvPr>
            <p:cNvSpPr/>
            <p:nvPr/>
          </p:nvSpPr>
          <p:spPr>
            <a:xfrm flipH="1">
              <a:off x="8516862" y="2268089"/>
              <a:ext cx="311591" cy="745643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F7A8167-402E-4636-8949-042E663C233E}"/>
                </a:ext>
              </a:extLst>
            </p:cNvPr>
            <p:cNvSpPr/>
            <p:nvPr/>
          </p:nvSpPr>
          <p:spPr>
            <a:xfrm flipH="1">
              <a:off x="7901577" y="2332794"/>
              <a:ext cx="781787" cy="616234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1" name="Picture Placeholder 20" descr="Rocket with solid fill">
            <a:extLst>
              <a:ext uri="{FF2B5EF4-FFF2-40B4-BE49-F238E27FC236}">
                <a16:creationId xmlns:a16="http://schemas.microsoft.com/office/drawing/2014/main" id="{338F3241-00EA-A8CD-5770-5218FEEFD53F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3558386" y="2389906"/>
            <a:ext cx="460112" cy="466933"/>
          </a:xfrm>
        </p:spPr>
      </p:pic>
      <p:pic>
        <p:nvPicPr>
          <p:cNvPr id="25" name="Picture Placeholder 24" descr="Dollar with solid fill">
            <a:extLst>
              <a:ext uri="{FF2B5EF4-FFF2-40B4-BE49-F238E27FC236}">
                <a16:creationId xmlns:a16="http://schemas.microsoft.com/office/drawing/2014/main" id="{20B6971E-7D95-234A-52CF-EDF7DAD0CCB7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7958950" y="2437246"/>
            <a:ext cx="823913" cy="384362"/>
          </a:xfrm>
        </p:spPr>
      </p:pic>
    </p:spTree>
    <p:extLst>
      <p:ext uri="{BB962C8B-B14F-4D97-AF65-F5344CB8AC3E}">
        <p14:creationId xmlns:p14="http://schemas.microsoft.com/office/powerpoint/2010/main" val="369769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D4AB4507-F77A-44A5-B290-3F3D4817B7B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4592135-A11E-4178-A320-510C4B749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6496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499D5A-91D2-45BF-B204-6FDFFE97F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61CED-575A-4A61-B181-A442461326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F3A07-B555-4DCB-847F-A2749A0C08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581" y="2433564"/>
            <a:ext cx="2812282" cy="1241508"/>
          </a:xfrm>
        </p:spPr>
        <p:txBody>
          <a:bodyPr/>
          <a:lstStyle/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/>
              <a:t>Analyzes key factors like credit score, income, loan amount, and repayment history.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/>
              <a:t>Helps banks predict the likelihood of loan defaults using data-driven models.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BEBF22-A40E-4194-AD9A-12E9E5AB00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70581" y="1775805"/>
            <a:ext cx="2812282" cy="554643"/>
          </a:xfrm>
        </p:spPr>
        <p:txBody>
          <a:bodyPr/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Loan Default Risk Analysis uses historical loan data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8C0573-728C-4817-B25F-9C4BA8292F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05773" y="2396616"/>
            <a:ext cx="2812282" cy="1039454"/>
          </a:xfrm>
        </p:spPr>
        <p:txBody>
          <a:bodyPr/>
          <a:lstStyle/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/>
              <a:t>Evaluates how a borrower’s credit history affects repayment behavior.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/>
              <a:t>Measures financial burden and repayment capacity.</a:t>
            </a:r>
            <a:endParaRPr lang="en-US" noProof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3D57FF-A4A8-4B9F-8E36-4755E494CB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31291" y="1775805"/>
            <a:ext cx="2812282" cy="554643"/>
          </a:xfrm>
        </p:spPr>
        <p:txBody>
          <a:bodyPr/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It helps understand factors influencing loan repayment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A2C873E-AF75-4B6A-8EBE-2F12C5A7E6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92000" y="2433564"/>
            <a:ext cx="2812282" cy="1038407"/>
          </a:xfrm>
        </p:spPr>
        <p:txBody>
          <a:bodyPr/>
          <a:lstStyle/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/>
              <a:t>Identify potential defaulters using predictive analytics.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/>
              <a:t>Enhance accuracy in evaluating borrower creditworthiness.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noProof="1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62A9F2-7193-4B39-BE74-49635D23507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92000" y="1775805"/>
            <a:ext cx="2812282" cy="554643"/>
          </a:xfrm>
        </p:spPr>
        <p:txBody>
          <a:bodyPr/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Analytical insights assist in better loan approval decisions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9B9111-D7E0-4C6E-8B6D-2598C446AF6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70581" y="4856165"/>
            <a:ext cx="2812282" cy="1011701"/>
          </a:xfrm>
        </p:spPr>
        <p:txBody>
          <a:bodyPr/>
          <a:lstStyle/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/>
              <a:t>Uses machine learning to forecast the likelihood of loan defaults.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/>
              <a:t>Considers multiple borrower attributes for accurate risk assessment.</a:t>
            </a:r>
            <a:endParaRPr lang="en-US" noProof="1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C6192BD-E170-4A74-8019-C8202728C49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70581" y="3808744"/>
            <a:ext cx="2812282" cy="671118"/>
          </a:xfrm>
        </p:spPr>
        <p:txBody>
          <a:bodyPr/>
          <a:lstStyle/>
          <a:p>
            <a:r>
              <a:rPr lang="en-US" dirty="0"/>
              <a:t>Improved decision-making process for loan approvals and risk management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590D2A3-9EEB-4BD9-A6F1-7A6252D21D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31291" y="4813831"/>
            <a:ext cx="2812282" cy="1054035"/>
          </a:xfrm>
        </p:spPr>
        <p:txBody>
          <a:bodyPr/>
          <a:lstStyle/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/>
              <a:t>Gather and clean historical borrower and loan data.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/>
              <a:t>Use analytical models to forecast and minimize future loan defaults.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A88E256-0941-4678-8F52-4A15674EC32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31291" y="3808744"/>
            <a:ext cx="2812282" cy="671118"/>
          </a:xfrm>
        </p:spPr>
        <p:txBody>
          <a:bodyPr/>
          <a:lstStyle/>
          <a:p>
            <a:r>
              <a:rPr lang="en-US" dirty="0"/>
              <a:t>To analyze borrower data and identify factors influencing loan default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917E9BF-7C5E-4DE7-8C66-9B69A207D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511184" y="3716527"/>
            <a:ext cx="9169633" cy="0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14DCD19-05BE-4D3F-A9E1-A9353D509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58121" y="2630172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9527B99-C015-4364-A9D0-E9EF5F8CC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19527" y="2630172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bject 7" descr="Beige rectangle">
            <a:extLst>
              <a:ext uri="{FF2B5EF4-FFF2-40B4-BE49-F238E27FC236}">
                <a16:creationId xmlns:a16="http://schemas.microsoft.com/office/drawing/2014/main" id="{6167A703-9B37-469C-853D-0CB6C1F4D8F0}"/>
              </a:ext>
            </a:extLst>
          </p:cNvPr>
          <p:cNvSpPr/>
          <p:nvPr/>
        </p:nvSpPr>
        <p:spPr bwMode="white">
          <a:xfrm flipV="1">
            <a:off x="722099" y="1277068"/>
            <a:ext cx="2812282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1E4A73F-DB3E-4AF4-A250-CB257055A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98187" y="1803828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651BC50-F263-44D5-B1E1-32D5EA7EA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458121" y="1803828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00AA00A-91AC-4400-AF7A-EAB077000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019527" y="1803828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8CCE096-0925-41C0-AF48-23E7DBC19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98187" y="3756936"/>
            <a:ext cx="462986" cy="722926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75C6854-B085-4AC0-984F-E73F9C388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458121" y="3754766"/>
            <a:ext cx="462986" cy="722926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2EAB4BE-ED20-4BB8-A23B-B02A1115A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58121" y="4752270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Graphic 23" descr="Icon Clock">
            <a:extLst>
              <a:ext uri="{FF2B5EF4-FFF2-40B4-BE49-F238E27FC236}">
                <a16:creationId xmlns:a16="http://schemas.microsoft.com/office/drawing/2014/main" id="{5495C1F9-7920-41BF-8ACA-22F12780B550}"/>
              </a:ext>
            </a:extLst>
          </p:cNvPr>
          <p:cNvSpPr>
            <a:spLocks noChangeAspect="1"/>
          </p:cNvSpPr>
          <p:nvPr/>
        </p:nvSpPr>
        <p:spPr>
          <a:xfrm>
            <a:off x="990538" y="2000245"/>
            <a:ext cx="278285" cy="278285"/>
          </a:xfrm>
          <a:custGeom>
            <a:avLst/>
            <a:gdLst>
              <a:gd name="connsiteX0" fmla="*/ 657911 w 1314450"/>
              <a:gd name="connsiteY0" fmla="*/ 1315822 h 1314450"/>
              <a:gd name="connsiteX1" fmla="*/ 0 w 1314450"/>
              <a:gd name="connsiteY1" fmla="*/ 657911 h 1314450"/>
              <a:gd name="connsiteX2" fmla="*/ 657911 w 1314450"/>
              <a:gd name="connsiteY2" fmla="*/ 0 h 1314450"/>
              <a:gd name="connsiteX3" fmla="*/ 1315822 w 1314450"/>
              <a:gd name="connsiteY3" fmla="*/ 657911 h 1314450"/>
              <a:gd name="connsiteX4" fmla="*/ 657911 w 1314450"/>
              <a:gd name="connsiteY4" fmla="*/ 1315822 h 1314450"/>
              <a:gd name="connsiteX5" fmla="*/ 657911 w 1314450"/>
              <a:gd name="connsiteY5" fmla="*/ 1315822 h 1314450"/>
              <a:gd name="connsiteX6" fmla="*/ 719947 w 1314450"/>
              <a:gd name="connsiteY6" fmla="*/ 358073 h 1314450"/>
              <a:gd name="connsiteX7" fmla="*/ 614001 w 1314450"/>
              <a:gd name="connsiteY7" fmla="*/ 358073 h 1314450"/>
              <a:gd name="connsiteX8" fmla="*/ 614001 w 1314450"/>
              <a:gd name="connsiteY8" fmla="*/ 620516 h 1314450"/>
              <a:gd name="connsiteX9" fmla="*/ 351558 w 1314450"/>
              <a:gd name="connsiteY9" fmla="*/ 620516 h 1314450"/>
              <a:gd name="connsiteX10" fmla="*/ 351558 w 1314450"/>
              <a:gd name="connsiteY10" fmla="*/ 726453 h 1314450"/>
              <a:gd name="connsiteX11" fmla="*/ 666969 w 1314450"/>
              <a:gd name="connsiteY11" fmla="*/ 726453 h 1314450"/>
              <a:gd name="connsiteX12" fmla="*/ 667388 w 1314450"/>
              <a:gd name="connsiteY12" fmla="*/ 726453 h 1314450"/>
              <a:gd name="connsiteX13" fmla="*/ 705202 w 1314450"/>
              <a:gd name="connsiteY13" fmla="*/ 711613 h 1314450"/>
              <a:gd name="connsiteX14" fmla="*/ 719947 w 1314450"/>
              <a:gd name="connsiteY14" fmla="*/ 673894 h 1314450"/>
              <a:gd name="connsiteX15" fmla="*/ 719947 w 1314450"/>
              <a:gd name="connsiteY15" fmla="*/ 673475 h 1314450"/>
              <a:gd name="connsiteX16" fmla="*/ 719947 w 1314450"/>
              <a:gd name="connsiteY16" fmla="*/ 358073 h 131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14450" h="1314450">
                <a:moveTo>
                  <a:pt x="657911" y="1315822"/>
                </a:moveTo>
                <a:cubicBezTo>
                  <a:pt x="294570" y="1315822"/>
                  <a:pt x="0" y="1021242"/>
                  <a:pt x="0" y="657911"/>
                </a:cubicBezTo>
                <a:cubicBezTo>
                  <a:pt x="0" y="294580"/>
                  <a:pt x="294570" y="0"/>
                  <a:pt x="657911" y="0"/>
                </a:cubicBezTo>
                <a:cubicBezTo>
                  <a:pt x="1021242" y="0"/>
                  <a:pt x="1315822" y="294580"/>
                  <a:pt x="1315822" y="657911"/>
                </a:cubicBezTo>
                <a:cubicBezTo>
                  <a:pt x="1315822" y="1021251"/>
                  <a:pt x="1021242" y="1315822"/>
                  <a:pt x="657911" y="1315822"/>
                </a:cubicBezTo>
                <a:lnTo>
                  <a:pt x="657911" y="1315822"/>
                </a:lnTo>
                <a:close/>
                <a:moveTo>
                  <a:pt x="719947" y="358073"/>
                </a:moveTo>
                <a:cubicBezTo>
                  <a:pt x="719947" y="288026"/>
                  <a:pt x="614001" y="288007"/>
                  <a:pt x="614001" y="358073"/>
                </a:cubicBezTo>
                <a:lnTo>
                  <a:pt x="614001" y="620516"/>
                </a:lnTo>
                <a:lnTo>
                  <a:pt x="351558" y="620516"/>
                </a:lnTo>
                <a:cubicBezTo>
                  <a:pt x="281511" y="620516"/>
                  <a:pt x="281492" y="726453"/>
                  <a:pt x="351558" y="726453"/>
                </a:cubicBezTo>
                <a:lnTo>
                  <a:pt x="666969" y="726453"/>
                </a:lnTo>
                <a:lnTo>
                  <a:pt x="667388" y="726453"/>
                </a:lnTo>
                <a:cubicBezTo>
                  <a:pt x="683866" y="726453"/>
                  <a:pt x="696478" y="720585"/>
                  <a:pt x="705202" y="711613"/>
                </a:cubicBezTo>
                <a:cubicBezTo>
                  <a:pt x="714118" y="702888"/>
                  <a:pt x="719947" y="690324"/>
                  <a:pt x="719947" y="673894"/>
                </a:cubicBezTo>
                <a:lnTo>
                  <a:pt x="719947" y="673475"/>
                </a:lnTo>
                <a:lnTo>
                  <a:pt x="719947" y="358073"/>
                </a:lnTo>
                <a:close/>
              </a:path>
            </a:pathLst>
          </a:cu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33" name="Graphic 32" descr="Bank with solid fill">
            <a:extLst>
              <a:ext uri="{FF2B5EF4-FFF2-40B4-BE49-F238E27FC236}">
                <a16:creationId xmlns:a16="http://schemas.microsoft.com/office/drawing/2014/main" id="{26739741-70D4-A28D-3660-0BFEB16C9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7899" y="1896444"/>
            <a:ext cx="403796" cy="475334"/>
          </a:xfrm>
          <a:prstGeom prst="rect">
            <a:avLst/>
          </a:prstGeom>
        </p:spPr>
      </p:pic>
      <p:pic>
        <p:nvPicPr>
          <p:cNvPr id="35" name="Graphic 34" descr="Hourglass">
            <a:extLst>
              <a:ext uri="{FF2B5EF4-FFF2-40B4-BE49-F238E27FC236}">
                <a16:creationId xmlns:a16="http://schemas.microsoft.com/office/drawing/2014/main" id="{46209930-2773-040F-B0DA-044E5209B4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086416" y="1976565"/>
            <a:ext cx="329208" cy="329208"/>
          </a:xfrm>
          <a:prstGeom prst="rect">
            <a:avLst/>
          </a:prstGeom>
        </p:spPr>
      </p:pic>
      <p:pic>
        <p:nvPicPr>
          <p:cNvPr id="37" name="Graphic 36" descr="Lightbulb and gear">
            <a:extLst>
              <a:ext uri="{FF2B5EF4-FFF2-40B4-BE49-F238E27FC236}">
                <a16:creationId xmlns:a16="http://schemas.microsoft.com/office/drawing/2014/main" id="{FCCA762D-C087-F21F-D3D4-492A83B275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44362" y="3933081"/>
            <a:ext cx="370636" cy="370636"/>
          </a:xfrm>
          <a:prstGeom prst="rect">
            <a:avLst/>
          </a:prstGeom>
        </p:spPr>
      </p:pic>
      <p:pic>
        <p:nvPicPr>
          <p:cNvPr id="39" name="Graphic 38" descr="Dice">
            <a:extLst>
              <a:ext uri="{FF2B5EF4-FFF2-40B4-BE49-F238E27FC236}">
                <a16:creationId xmlns:a16="http://schemas.microsoft.com/office/drawing/2014/main" id="{26740A91-9CCA-ED8E-B04E-E20B4D6C40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534232" y="3985054"/>
            <a:ext cx="347463" cy="34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3629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6F5F8-4931-DB2F-5BBA-A6C0201F7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A7782ED9-C21C-35D7-B0CD-3D10C86EEB1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91BF5AB-334D-7DBC-A87F-0737F6A5F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5AD7C8-89CF-C048-B261-3E2C95D2C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98" y="808186"/>
            <a:ext cx="5223947" cy="370166"/>
          </a:xfrm>
        </p:spPr>
        <p:txBody>
          <a:bodyPr/>
          <a:lstStyle/>
          <a:p>
            <a:r>
              <a:rPr lang="en-US" dirty="0"/>
              <a:t>TOOLS &amp; LIBRARIES USED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35A4B-E5E4-4DE1-C87A-3FA469A9E0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38E363-5C8F-1D7D-310A-8A7090DE48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581" y="2433564"/>
            <a:ext cx="2812282" cy="124255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Real customer information including age, income, and employment details used for analysis</a:t>
            </a:r>
            <a:endParaRPr lang="en-US" sz="1400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05F67B-6064-4E68-2B83-2D6E52ACF3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70581" y="1775805"/>
            <a:ext cx="2812282" cy="554643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AU" dirty="0"/>
              <a:t>W</a:t>
            </a:r>
            <a:r>
              <a:rPr lang="en-US" dirty="0"/>
              <a:t>EBSITE</a:t>
            </a:r>
          </a:p>
          <a:p>
            <a:pPr>
              <a:spcAft>
                <a:spcPts val="0"/>
              </a:spcAft>
            </a:pPr>
            <a:r>
              <a:rPr lang="en-US" dirty="0"/>
              <a:t>(Raw Data)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DC9D7F-8F20-14BA-1AE5-F3C6DD4727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1291" y="2433564"/>
            <a:ext cx="2812282" cy="1242556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300" dirty="0"/>
              <a:t>Helps perform fast numerical computations and handle large arrays efficient.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300" dirty="0"/>
              <a:t>Provides advanced and attractive statistical visualizations to identify patterns and correlations.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3481A2E-5829-1069-F730-0A328CD93D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31291" y="1943239"/>
            <a:ext cx="2812282" cy="369209"/>
          </a:xfrm>
        </p:spPr>
        <p:txBody>
          <a:bodyPr/>
          <a:lstStyle/>
          <a:p>
            <a:r>
              <a:rPr lang="en-US" dirty="0"/>
              <a:t>Python (NumPy &amp; Pandas)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4A84615-F6F8-E8AA-A127-D31CB7BD31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92000" y="2433564"/>
            <a:ext cx="2812282" cy="1242556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300" dirty="0"/>
              <a:t>Removed duplicates and irrelevant records to ensure data accuracy.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300" dirty="0"/>
              <a:t>Used Excel filters to view specific loan categories and borrower segments.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728CF2-0B43-B3FA-5DE8-C13EF9EDFC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92000" y="1961239"/>
            <a:ext cx="2812282" cy="369209"/>
          </a:xfrm>
        </p:spPr>
        <p:txBody>
          <a:bodyPr/>
          <a:lstStyle/>
          <a:p>
            <a:r>
              <a:rPr lang="en-US" dirty="0"/>
              <a:t>Excel Data filtering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A444636-1731-2790-0664-B1DC50FED30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70581" y="4582977"/>
            <a:ext cx="2812282" cy="1242556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300" dirty="0"/>
              <a:t>Summarized large loan datasets to analyze trends by category, region, or credit score.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300" dirty="0"/>
              <a:t>Allowed quick comparisons of approved vs. defaulted loans.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B4157D7-CFD1-EC2C-3C0A-8E1F0494E12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38432" y="4114135"/>
            <a:ext cx="2812282" cy="343612"/>
          </a:xfrm>
        </p:spPr>
        <p:txBody>
          <a:bodyPr/>
          <a:lstStyle/>
          <a:p>
            <a:r>
              <a:rPr lang="en-US" dirty="0"/>
              <a:t>Pivot tables - Charts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01019C9-45F5-3B85-9124-175EE96FF3D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31291" y="4582977"/>
            <a:ext cx="2812282" cy="1242556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300" dirty="0"/>
              <a:t>Integrated cleaned Excel loan datasets into Power BI.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300" dirty="0"/>
              <a:t>For creating interactive dashboards to visualize loan risk factors and final insights..</a:t>
            </a:r>
            <a:endParaRPr lang="en-US" sz="1300" noProof="1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93D5BAC-172F-EDDC-46B2-DC120E6DAE9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31291" y="4114350"/>
            <a:ext cx="2812282" cy="319162"/>
          </a:xfrm>
        </p:spPr>
        <p:txBody>
          <a:bodyPr/>
          <a:lstStyle/>
          <a:p>
            <a:r>
              <a:rPr lang="en-US" dirty="0"/>
              <a:t>Power BI Dashboard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C47A018-A683-C7EB-53D5-F0CA09971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511183" y="3825584"/>
            <a:ext cx="9169633" cy="0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5F61A0E-C6F1-C843-7C41-D1C5B9FF0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58121" y="2630172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185C891-7682-16EE-F5E2-3771006D6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19527" y="2630172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bject 7" descr="Beige rectangle">
            <a:extLst>
              <a:ext uri="{FF2B5EF4-FFF2-40B4-BE49-F238E27FC236}">
                <a16:creationId xmlns:a16="http://schemas.microsoft.com/office/drawing/2014/main" id="{CCF660F8-C694-7127-D62E-0FB8C21BC136}"/>
              </a:ext>
            </a:extLst>
          </p:cNvPr>
          <p:cNvSpPr/>
          <p:nvPr/>
        </p:nvSpPr>
        <p:spPr bwMode="white">
          <a:xfrm flipV="1">
            <a:off x="722099" y="1277068"/>
            <a:ext cx="2812282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5D58DF6-89A9-7111-7DF8-4148AEFD1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98187" y="1803828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2E1A27C-C0BE-3604-D7BB-6CBF65610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458121" y="1803828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AC01584-226D-D76B-811B-3464CAF03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019527" y="1803828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858F355-EC5B-7EB0-3318-6E47EC6B6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98187" y="3960036"/>
            <a:ext cx="39713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B96F098-3096-B92A-3E9B-9BF9EF35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458121" y="3960036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DB768B8-4227-BD32-0439-48179C6DA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58121" y="4752270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 descr="Internet with solid fill">
            <a:extLst>
              <a:ext uri="{FF2B5EF4-FFF2-40B4-BE49-F238E27FC236}">
                <a16:creationId xmlns:a16="http://schemas.microsoft.com/office/drawing/2014/main" id="{45EA085B-08A2-B55C-C523-EF1E885A6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8187" y="1862259"/>
            <a:ext cx="462986" cy="566627"/>
          </a:xfrm>
          <a:prstGeom prst="rect">
            <a:avLst/>
          </a:prstGeom>
        </p:spPr>
      </p:pic>
      <p:pic>
        <p:nvPicPr>
          <p:cNvPr id="17" name="Graphic 16" descr="Programmer">
            <a:extLst>
              <a:ext uri="{FF2B5EF4-FFF2-40B4-BE49-F238E27FC236}">
                <a16:creationId xmlns:a16="http://schemas.microsoft.com/office/drawing/2014/main" id="{FC93824F-9C26-242F-8DC0-C6D59104DB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525358" y="1963456"/>
            <a:ext cx="348992" cy="348992"/>
          </a:xfrm>
          <a:prstGeom prst="rect">
            <a:avLst/>
          </a:prstGeom>
        </p:spPr>
      </p:pic>
      <p:pic>
        <p:nvPicPr>
          <p:cNvPr id="21" name="Graphic 20" descr="Document">
            <a:extLst>
              <a:ext uri="{FF2B5EF4-FFF2-40B4-BE49-F238E27FC236}">
                <a16:creationId xmlns:a16="http://schemas.microsoft.com/office/drawing/2014/main" id="{987FB131-DFB1-3EFA-6CD6-F7AD994A11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057621" y="1939395"/>
            <a:ext cx="397114" cy="397114"/>
          </a:xfrm>
          <a:prstGeom prst="rect">
            <a:avLst/>
          </a:prstGeom>
        </p:spPr>
      </p:pic>
      <p:pic>
        <p:nvPicPr>
          <p:cNvPr id="23" name="Graphic 22" descr="Paper">
            <a:extLst>
              <a:ext uri="{FF2B5EF4-FFF2-40B4-BE49-F238E27FC236}">
                <a16:creationId xmlns:a16="http://schemas.microsoft.com/office/drawing/2014/main" id="{81A8B9D6-EF04-4C2C-3A75-5D429A1D1B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70728" y="4114135"/>
            <a:ext cx="452053" cy="452053"/>
          </a:xfrm>
          <a:prstGeom prst="rect">
            <a:avLst/>
          </a:prstGeom>
        </p:spPr>
      </p:pic>
      <p:pic>
        <p:nvPicPr>
          <p:cNvPr id="25" name="Graphic 24" descr="Cloud Computing">
            <a:extLst>
              <a:ext uri="{FF2B5EF4-FFF2-40B4-BE49-F238E27FC236}">
                <a16:creationId xmlns:a16="http://schemas.microsoft.com/office/drawing/2014/main" id="{4B778539-FFCF-DE47-8D10-275C42008CE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476790" y="4114135"/>
            <a:ext cx="452114" cy="45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081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BF3DC-C3D7-2C6B-674B-F81BDA292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680D8274-2D15-7780-1866-4CF7DCA4879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1ACA565-0139-92D6-CA1F-2A9034402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F60F8-6E50-F20D-1149-88DA0AB7B9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51DB0-C306-64C5-2556-9DE844478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44" y="839118"/>
            <a:ext cx="10766912" cy="502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9074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79D8E-C8D9-9F9C-83F2-737AC3E07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A3E55A31-A313-67FB-680A-B2F4D82F6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( </a:t>
            </a:r>
            <a:r>
              <a:rPr lang="en-US" dirty="0" err="1"/>
              <a:t>Numpy</a:t>
            </a:r>
            <a:r>
              <a:rPr lang="en-US" dirty="0"/>
              <a:t> &amp; Pandas 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5E30B-B031-D80F-5FC6-24F600D41D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625473F-7F1C-7CD3-4ABC-8E002FE607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2863" y="3857676"/>
            <a:ext cx="3276000" cy="130820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Filling missing values</a:t>
            </a:r>
            <a:endParaRPr lang="en-US" b="1" noProof="1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Numerical columns</a:t>
            </a:r>
            <a:endParaRPr lang="en-US" b="1" noProof="1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Categorical columns</a:t>
            </a:r>
            <a:endParaRPr lang="en-US" b="1" noProof="1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30F6911-41BB-427E-203E-4FE03A9013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2863" y="2915234"/>
            <a:ext cx="3276000" cy="51376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Null values handled using imputation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78E4768-FE91-56B8-93F6-11B805B08C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432" y="3857676"/>
            <a:ext cx="3276000" cy="22388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Accuracy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Consistency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Uniqueness</a:t>
            </a:r>
            <a:endParaRPr lang="en-US" b="1" noProof="1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39595EC-7F16-3040-22D0-26498F08B92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432" y="2912103"/>
            <a:ext cx="3276000" cy="51689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Duplicate data removed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1875853-7B72-B418-D044-9EB8171B28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08000" y="3857676"/>
            <a:ext cx="3276000" cy="22388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Uniformity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Readability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Comparability</a:t>
            </a:r>
            <a:endParaRPr lang="en-US" b="1" noProof="1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592DF22-A822-24F4-46F0-01E97EE31CE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8000" y="2912103"/>
            <a:ext cx="3276000" cy="51689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Standardized date and numeric formats</a:t>
            </a:r>
          </a:p>
        </p:txBody>
      </p:sp>
      <p:sp>
        <p:nvSpPr>
          <p:cNvPr id="30" name="object 7" descr="Beige rectangle">
            <a:extLst>
              <a:ext uri="{FF2B5EF4-FFF2-40B4-BE49-F238E27FC236}">
                <a16:creationId xmlns:a16="http://schemas.microsoft.com/office/drawing/2014/main" id="{9508660E-190F-8E1B-2502-09EA9C23C545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D15349-21AB-20E4-4ACC-787797916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164878" y="1733550"/>
            <a:ext cx="1177348" cy="992451"/>
            <a:chOff x="9164878" y="1733550"/>
            <a:chExt cx="1177348" cy="992451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1AC99AD-97D2-0441-ED6F-C0D91601F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49775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E183CDD-D4CB-0100-1287-E20A5FB989AC}"/>
                </a:ext>
              </a:extLst>
            </p:cNvPr>
            <p:cNvSpPr/>
            <p:nvPr/>
          </p:nvSpPr>
          <p:spPr>
            <a:xfrm>
              <a:off x="9164878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E3D113C-DF1F-CD05-B894-61933BEAD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24638" y="1733550"/>
            <a:ext cx="1192959" cy="992451"/>
            <a:chOff x="1824638" y="1733550"/>
            <a:chExt cx="1192959" cy="99245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610C6A0-67F0-EA50-BD01-207B99EE12A2}"/>
                </a:ext>
              </a:extLst>
            </p:cNvPr>
            <p:cNvSpPr/>
            <p:nvPr/>
          </p:nvSpPr>
          <p:spPr>
            <a:xfrm>
              <a:off x="1824638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7DBC1A2-7CA5-F304-C2D4-ACA1D30CEF6A}"/>
                </a:ext>
              </a:extLst>
            </p:cNvPr>
            <p:cNvSpPr/>
            <p:nvPr/>
          </p:nvSpPr>
          <p:spPr>
            <a:xfrm>
              <a:off x="1925901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2D02F1C-0B68-6979-2894-FE6A3A151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999" y="1607028"/>
            <a:ext cx="1200866" cy="1200866"/>
            <a:chOff x="5482999" y="1607028"/>
            <a:chExt cx="1200866" cy="120086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7BD2A53-2AF7-E17E-B1F8-6CA0037E2D3F}"/>
                </a:ext>
              </a:extLst>
            </p:cNvPr>
            <p:cNvSpPr/>
            <p:nvPr/>
          </p:nvSpPr>
          <p:spPr>
            <a:xfrm>
              <a:off x="5587207" y="1711236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752D91B3-8516-6146-890D-202C973C9F81}"/>
                </a:ext>
              </a:extLst>
            </p:cNvPr>
            <p:cNvSpPr/>
            <p:nvPr/>
          </p:nvSpPr>
          <p:spPr>
            <a:xfrm>
              <a:off x="5482999" y="1607028"/>
              <a:ext cx="1200866" cy="120086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Placeholder 10" descr="Programmer">
            <a:extLst>
              <a:ext uri="{FF2B5EF4-FFF2-40B4-BE49-F238E27FC236}">
                <a16:creationId xmlns:a16="http://schemas.microsoft.com/office/drawing/2014/main" id="{913D4B8B-EA1B-F63E-725C-5C6779E56B93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46241" y="1819672"/>
            <a:ext cx="823913" cy="823912"/>
          </a:xfrm>
        </p:spPr>
      </p:pic>
      <p:pic>
        <p:nvPicPr>
          <p:cNvPr id="37" name="Graphic 36" descr="Ethernet">
            <a:extLst>
              <a:ext uri="{FF2B5EF4-FFF2-40B4-BE49-F238E27FC236}">
                <a16:creationId xmlns:a16="http://schemas.microsoft.com/office/drawing/2014/main" id="{1E9AB1A1-4036-4EC4-B363-C7883D956A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587207" y="1772575"/>
            <a:ext cx="914400" cy="914400"/>
          </a:xfrm>
          <a:prstGeom prst="rect">
            <a:avLst/>
          </a:prstGeom>
        </p:spPr>
      </p:pic>
      <p:pic>
        <p:nvPicPr>
          <p:cNvPr id="41" name="Picture Placeholder 40" descr="Server">
            <a:extLst>
              <a:ext uri="{FF2B5EF4-FFF2-40B4-BE49-F238E27FC236}">
                <a16:creationId xmlns:a16="http://schemas.microsoft.com/office/drawing/2014/main" id="{DD94FCC5-04B7-EAC0-F57D-02F2CCD064D7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421846" y="1821744"/>
            <a:ext cx="823913" cy="823913"/>
          </a:xfrm>
        </p:spPr>
      </p:pic>
    </p:spTree>
    <p:extLst>
      <p:ext uri="{BB962C8B-B14F-4D97-AF65-F5344CB8AC3E}">
        <p14:creationId xmlns:p14="http://schemas.microsoft.com/office/powerpoint/2010/main" val="2812157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C738A-06CE-AB2D-21C1-F28E1B19C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14489D9B-3F44-AF1D-86F3-668E8796F22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486AD3C-3DD6-DD61-2473-67F31FA70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86B3C-8C8E-7640-7064-5C50BA073E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944FC4-721D-FC3E-2CD6-14B201BC2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46" y="469425"/>
            <a:ext cx="5131279" cy="58346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D1A01B-A340-AECA-D064-56F2A7382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375" y="469425"/>
            <a:ext cx="5237787" cy="589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25968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28094-67F9-DF81-D797-6BFEE9298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96B4D31C-391D-8391-3D56-86CC1D3925C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9B2EC7E-4854-9BEF-9700-70125A36A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C487B-4966-52A9-BD47-70581B4F96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B40797-5C7C-5C46-7558-F14F877B2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66" y="332509"/>
            <a:ext cx="5304423" cy="60682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E082BA-0B02-A8FD-6128-6D34AA928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378" y="332509"/>
            <a:ext cx="5510186" cy="608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3444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1123242-1802-4890-85C8-48524FEB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32E52-1B70-4F84-B381-E9D9871504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ED86B65-490B-4A46-9A35-518F306514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2863" y="3857676"/>
            <a:ext cx="3276000" cy="22388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Transformation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Conversion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Representation</a:t>
            </a:r>
            <a:endParaRPr lang="en-US" b="1" noProof="1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0CBFD8E-64DF-4423-A5AD-A669424819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2863" y="2829113"/>
            <a:ext cx="3276000" cy="599887"/>
          </a:xfrm>
        </p:spPr>
        <p:txBody>
          <a:bodyPr/>
          <a:lstStyle/>
          <a:p>
            <a:r>
              <a:rPr lang="en-US" dirty="0"/>
              <a:t>Converted categorical data into numerical format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546E0D8-3EE8-4FA5-9941-005B12026C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432" y="3857676"/>
            <a:ext cx="3276000" cy="22388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Feature-Engineering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Insights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Optimization</a:t>
            </a:r>
            <a:endParaRPr lang="en-US" b="1" noProof="1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D2E6CBE-74EE-4EC6-97D7-36D6F95ED2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432" y="2882762"/>
            <a:ext cx="3276000" cy="516898"/>
          </a:xfrm>
        </p:spPr>
        <p:txBody>
          <a:bodyPr/>
          <a:lstStyle/>
          <a:p>
            <a:r>
              <a:rPr lang="en-US" dirty="0"/>
              <a:t>Created new columns like  ‘Flag Own Car'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39944D4-2F2D-438D-93AE-CFC498C791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08000" y="3857676"/>
            <a:ext cx="3276000" cy="22388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Scaling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Uniformity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Balance</a:t>
            </a:r>
          </a:p>
        </p:txBody>
      </p:sp>
      <p:sp>
        <p:nvSpPr>
          <p:cNvPr id="30" name="object 7" descr="Beige rectangle">
            <a:extLst>
              <a:ext uri="{FF2B5EF4-FFF2-40B4-BE49-F238E27FC236}">
                <a16:creationId xmlns:a16="http://schemas.microsoft.com/office/drawing/2014/main" id="{1E04C292-AE6A-4666-9EA6-9D87F84CB793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EE06CE-237F-44E6-BF7E-72B27BB6A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164878" y="1733550"/>
            <a:ext cx="1177348" cy="992451"/>
            <a:chOff x="9164878" y="1733550"/>
            <a:chExt cx="1177348" cy="992451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183E070-F2AC-4FAC-84B2-3622CF377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49775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35680A2-0542-4B12-830D-8B2A95324F4C}"/>
                </a:ext>
              </a:extLst>
            </p:cNvPr>
            <p:cNvSpPr/>
            <p:nvPr/>
          </p:nvSpPr>
          <p:spPr>
            <a:xfrm>
              <a:off x="9164878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C6003A3-849D-4BA1-BF85-B6F50F872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772046" y="1760432"/>
            <a:ext cx="1192959" cy="992451"/>
            <a:chOff x="1824638" y="1733550"/>
            <a:chExt cx="1192959" cy="99245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65C63E4-7456-4EA3-AB9B-0BC0EEF50323}"/>
                </a:ext>
              </a:extLst>
            </p:cNvPr>
            <p:cNvSpPr/>
            <p:nvPr/>
          </p:nvSpPr>
          <p:spPr>
            <a:xfrm>
              <a:off x="1824638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E3F9864-B075-4CC7-B167-7CE1FB0314D7}"/>
                </a:ext>
              </a:extLst>
            </p:cNvPr>
            <p:cNvSpPr/>
            <p:nvPr/>
          </p:nvSpPr>
          <p:spPr>
            <a:xfrm>
              <a:off x="1925901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C26C130-0A78-4033-83C0-068066B19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999" y="1607028"/>
            <a:ext cx="1200866" cy="1200866"/>
            <a:chOff x="5482999" y="1607028"/>
            <a:chExt cx="1200866" cy="120086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7FF1BC4-6B01-43E0-9719-53942A96A464}"/>
                </a:ext>
              </a:extLst>
            </p:cNvPr>
            <p:cNvSpPr/>
            <p:nvPr/>
          </p:nvSpPr>
          <p:spPr>
            <a:xfrm>
              <a:off x="5587207" y="1711236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9E8DB26-A207-4225-BABF-5E16AD0A8A72}"/>
                </a:ext>
              </a:extLst>
            </p:cNvPr>
            <p:cNvSpPr/>
            <p:nvPr/>
          </p:nvSpPr>
          <p:spPr>
            <a:xfrm>
              <a:off x="5482999" y="1607028"/>
              <a:ext cx="1200866" cy="120086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06F56A-66B9-8E5A-B490-29BFCA505E8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8000" y="2912103"/>
            <a:ext cx="3276000" cy="516898"/>
          </a:xfrm>
        </p:spPr>
        <p:txBody>
          <a:bodyPr/>
          <a:lstStyle/>
          <a:p>
            <a:r>
              <a:rPr lang="en-US" dirty="0"/>
              <a:t>Normalized data for better comparative analysis</a:t>
            </a:r>
          </a:p>
        </p:txBody>
      </p:sp>
      <p:pic>
        <p:nvPicPr>
          <p:cNvPr id="40" name="Picture Placeholder 39" descr="Barcode">
            <a:extLst>
              <a:ext uri="{FF2B5EF4-FFF2-40B4-BE49-F238E27FC236}">
                <a16:creationId xmlns:a16="http://schemas.microsoft.com/office/drawing/2014/main" id="{0BD5F43B-13FD-1FDB-77F6-1DD7B26D9106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17450" y="1852741"/>
            <a:ext cx="823913" cy="823913"/>
          </a:xfrm>
        </p:spPr>
      </p:pic>
      <p:pic>
        <p:nvPicPr>
          <p:cNvPr id="46" name="Picture Placeholder 45" descr="Presentation with bar chart">
            <a:extLst>
              <a:ext uri="{FF2B5EF4-FFF2-40B4-BE49-F238E27FC236}">
                <a16:creationId xmlns:a16="http://schemas.microsoft.com/office/drawing/2014/main" id="{8B55EBD9-D021-56CB-4773-D52E6754AC8F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30915" y="1760101"/>
            <a:ext cx="823913" cy="823913"/>
          </a:xfrm>
        </p:spPr>
      </p:pic>
      <p:pic>
        <p:nvPicPr>
          <p:cNvPr id="51" name="Picture Placeholder 50" descr="Internet with solid fill">
            <a:extLst>
              <a:ext uri="{FF2B5EF4-FFF2-40B4-BE49-F238E27FC236}">
                <a16:creationId xmlns:a16="http://schemas.microsoft.com/office/drawing/2014/main" id="{0369F03B-CC94-F2E1-C1D8-D4E1FDB2DA29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381864" y="1819672"/>
            <a:ext cx="823913" cy="823913"/>
          </a:xfrm>
        </p:spPr>
      </p:pic>
    </p:spTree>
    <p:extLst>
      <p:ext uri="{BB962C8B-B14F-4D97-AF65-F5344CB8AC3E}">
        <p14:creationId xmlns:p14="http://schemas.microsoft.com/office/powerpoint/2010/main" val="1299719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83DFB-5236-E4A0-7136-A8436A53E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D93DB195-A605-8020-971B-F02980FBE7E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1D9693-683F-D8A1-FD16-6215C546F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2716E-D3F5-3C78-A598-BC6D1C799A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53EAB4C7-B651-C645-8FDB-2327A4F09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02" y="870391"/>
            <a:ext cx="11401922" cy="506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44081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CAB02-F685-CD5F-C6D2-18AF87809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3D5FEF60-D24B-AD2D-FB0C-54106FAF5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999" y="808186"/>
            <a:ext cx="8983213" cy="370166"/>
          </a:xfrm>
        </p:spPr>
        <p:txBody>
          <a:bodyPr/>
          <a:lstStyle/>
          <a:p>
            <a:r>
              <a:rPr lang="en-US" dirty="0"/>
              <a:t>EXCEL DATA CLEANING &amp; Formatting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5607D-8086-D505-345E-959989FB13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32D646E-F84C-DE61-01F8-D9EDAE5669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2863" y="3857676"/>
            <a:ext cx="3276000" cy="22388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Export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Accessibility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Reporting</a:t>
            </a:r>
            <a:endParaRPr lang="en-US" b="1" noProof="1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0B770A6-7959-7F80-CD96-13AA0DBBFC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2863" y="2915235"/>
            <a:ext cx="3276000" cy="513766"/>
          </a:xfrm>
        </p:spPr>
        <p:txBody>
          <a:bodyPr/>
          <a:lstStyle/>
          <a:p>
            <a:r>
              <a:rPr lang="en-US" dirty="0"/>
              <a:t>Imported cleaned CSV file into Excel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B7F631E-6604-90C7-1859-0B8AF6BA1A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432" y="3857676"/>
            <a:ext cx="3276000" cy="22388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Validation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Verification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Accuracy</a:t>
            </a:r>
          </a:p>
          <a:p>
            <a:pPr marL="0" indent="0">
              <a:buNone/>
            </a:pPr>
            <a:endParaRPr lang="en-US" b="1" noProof="1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FBF4723-1E25-BE0E-5EC4-20042FA78A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432" y="2914779"/>
            <a:ext cx="3276000" cy="484881"/>
          </a:xfrm>
        </p:spPr>
        <p:txBody>
          <a:bodyPr/>
          <a:lstStyle/>
          <a:p>
            <a:r>
              <a:rPr lang="en-US" dirty="0"/>
              <a:t>Performed additional data checks using Excel formulas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ACDDAD7-F8BC-0217-42EB-68F0D79B08C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08000" y="3857676"/>
            <a:ext cx="3276000" cy="22388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Highlighting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Detection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Analysis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B3BBF75-91B2-E90D-1A05-C23FF1CFC7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8000" y="2914779"/>
            <a:ext cx="3276000" cy="484881"/>
          </a:xfrm>
        </p:spPr>
        <p:txBody>
          <a:bodyPr/>
          <a:lstStyle/>
          <a:p>
            <a:r>
              <a:rPr lang="en-US" dirty="0"/>
              <a:t>Used Conditional Formatting to identify outliers</a:t>
            </a:r>
          </a:p>
        </p:txBody>
      </p:sp>
      <p:sp>
        <p:nvSpPr>
          <p:cNvPr id="30" name="object 7" descr="Beige rectangle">
            <a:extLst>
              <a:ext uri="{FF2B5EF4-FFF2-40B4-BE49-F238E27FC236}">
                <a16:creationId xmlns:a16="http://schemas.microsoft.com/office/drawing/2014/main" id="{DA8BC05A-635C-83C0-8367-61B07EC2DE02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E56BE85-42D0-28DB-4E5E-4F556C44D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164878" y="1636450"/>
            <a:ext cx="1177348" cy="992451"/>
            <a:chOff x="9164878" y="1733550"/>
            <a:chExt cx="1177348" cy="992451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297A9E3-EAE0-3404-9E83-65A4A168C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49775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AF618E3-B5A6-E569-9487-87C23AC621AF}"/>
                </a:ext>
              </a:extLst>
            </p:cNvPr>
            <p:cNvSpPr/>
            <p:nvPr/>
          </p:nvSpPr>
          <p:spPr>
            <a:xfrm>
              <a:off x="9164878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6653AE0-E3F7-1954-DB2F-82E29EA84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09027" y="1607027"/>
            <a:ext cx="1192959" cy="992451"/>
            <a:chOff x="1824638" y="1733550"/>
            <a:chExt cx="1192959" cy="99245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F7F74BB-E7D9-C862-EB71-C0547AC7EF04}"/>
                </a:ext>
              </a:extLst>
            </p:cNvPr>
            <p:cNvSpPr/>
            <p:nvPr/>
          </p:nvSpPr>
          <p:spPr>
            <a:xfrm>
              <a:off x="1824638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5604872-1411-F40F-F5E2-C15C06FAE502}"/>
                </a:ext>
              </a:extLst>
            </p:cNvPr>
            <p:cNvSpPr/>
            <p:nvPr/>
          </p:nvSpPr>
          <p:spPr>
            <a:xfrm>
              <a:off x="1925901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AE08290-4B14-6756-0278-6A2806991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999" y="1607028"/>
            <a:ext cx="1200866" cy="1118973"/>
            <a:chOff x="5482999" y="1607028"/>
            <a:chExt cx="1200866" cy="120086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7DD2C36-9598-A2DD-D55F-FF5296A98F22}"/>
                </a:ext>
              </a:extLst>
            </p:cNvPr>
            <p:cNvSpPr/>
            <p:nvPr/>
          </p:nvSpPr>
          <p:spPr>
            <a:xfrm>
              <a:off x="5587207" y="1711236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8BE6437-746C-BAF2-2179-D4CDD07C0140}"/>
                </a:ext>
              </a:extLst>
            </p:cNvPr>
            <p:cNvSpPr/>
            <p:nvPr/>
          </p:nvSpPr>
          <p:spPr>
            <a:xfrm>
              <a:off x="5482999" y="1607028"/>
              <a:ext cx="1200866" cy="120086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Picture Placeholder 8" descr="Pie chart with solid fill">
            <a:extLst>
              <a:ext uri="{FF2B5EF4-FFF2-40B4-BE49-F238E27FC236}">
                <a16:creationId xmlns:a16="http://schemas.microsoft.com/office/drawing/2014/main" id="{F2098E62-EBDD-D174-2FFD-68E09D1932E9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910290" y="1684473"/>
            <a:ext cx="823913" cy="823913"/>
          </a:xfrm>
        </p:spPr>
      </p:pic>
      <p:pic>
        <p:nvPicPr>
          <p:cNvPr id="13" name="Picture Placeholder 12" descr="Statistics with solid fill">
            <a:extLst>
              <a:ext uri="{FF2B5EF4-FFF2-40B4-BE49-F238E27FC236}">
                <a16:creationId xmlns:a16="http://schemas.microsoft.com/office/drawing/2014/main" id="{80BAB882-DBEB-7F55-605E-3D1815AB1EFF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5667896" y="1744163"/>
            <a:ext cx="823913" cy="823913"/>
          </a:xfrm>
        </p:spPr>
      </p:pic>
      <p:pic>
        <p:nvPicPr>
          <p:cNvPr id="24" name="Picture Placeholder 23" descr="Research with solid fill">
            <a:extLst>
              <a:ext uri="{FF2B5EF4-FFF2-40B4-BE49-F238E27FC236}">
                <a16:creationId xmlns:a16="http://schemas.microsoft.com/office/drawing/2014/main" id="{62A30994-4A0A-8CCB-A80E-6B144BF1074A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432925" y="1720850"/>
            <a:ext cx="823913" cy="823913"/>
          </a:xfrm>
        </p:spPr>
      </p:pic>
    </p:spTree>
    <p:extLst>
      <p:ext uri="{BB962C8B-B14F-4D97-AF65-F5344CB8AC3E}">
        <p14:creationId xmlns:p14="http://schemas.microsoft.com/office/powerpoint/2010/main" val="793135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3DC66-BF97-CF7F-82A9-6D05538D6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EEB5D24B-0C4A-FA9D-1B98-1069FF01B8D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E7E6E88-7C09-455E-EB5E-78843EAB2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83BF5-D710-22D2-2ED4-7797FC12F5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3117A5-024C-4468-28A0-08A97466C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64" y="1023307"/>
            <a:ext cx="11173131" cy="467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4607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62FFA-BAE0-BFDD-1D05-BFF9162A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0A1EBE6F-62A3-830E-5AFC-0CA430099C2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A449C37-F890-57A0-C4DE-3A835AC8C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7203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B9652-8885-82F8-41BF-B547892E1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DATA VISUALIZATION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DEB4D-D7E5-2A70-CD16-E68AC1F2D7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C2AC15-E633-AE7E-CB8C-7C6247A9A4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581" y="2433564"/>
            <a:ext cx="2812282" cy="1242556"/>
          </a:xfrm>
        </p:spPr>
        <p:txBody>
          <a:bodyPr/>
          <a:lstStyle/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Comparison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Trend-analysis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Decision-making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08A545-FC73-9953-5A3F-982F64897D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70581" y="2053126"/>
            <a:ext cx="2812282" cy="278730"/>
          </a:xfrm>
        </p:spPr>
        <p:txBody>
          <a:bodyPr/>
          <a:lstStyle/>
          <a:p>
            <a:r>
              <a:rPr lang="en-US" dirty="0"/>
              <a:t>Charts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24B535-0694-3A4D-7C79-2650FE07AD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1291" y="2433564"/>
            <a:ext cx="2812282" cy="1242556"/>
          </a:xfrm>
        </p:spPr>
        <p:txBody>
          <a:bodyPr/>
          <a:lstStyle/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Representation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Clarity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Understanding</a:t>
            </a:r>
            <a:endParaRPr lang="en-US" b="1" noProof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0A6CCE4-B41B-9CE0-7FFB-16D4295B57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06857" y="2010805"/>
            <a:ext cx="2812282" cy="317046"/>
          </a:xfrm>
        </p:spPr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A3755E3-007E-866D-0B2B-520DD00FEA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92000" y="2433564"/>
            <a:ext cx="2812282" cy="1242556"/>
          </a:xfrm>
        </p:spPr>
        <p:txBody>
          <a:bodyPr/>
          <a:lstStyle/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Summary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Monitoring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Control</a:t>
            </a:r>
            <a:endParaRPr lang="en-US" b="1" noProof="1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4FF7AC-DD05-7F45-9611-2A09E5637D3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92000" y="2005915"/>
            <a:ext cx="2812282" cy="321936"/>
          </a:xfrm>
        </p:spPr>
        <p:txBody>
          <a:bodyPr/>
          <a:lstStyle/>
          <a:p>
            <a:r>
              <a:rPr lang="en-US" dirty="0"/>
              <a:t>Dashboard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DAFB896-3707-A107-F08A-6E06BA4A51E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70581" y="4582977"/>
            <a:ext cx="2812282" cy="1242556"/>
          </a:xfrm>
        </p:spPr>
        <p:txBody>
          <a:bodyPr/>
          <a:lstStyle/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Growth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Analysis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Evaluation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b="1" noProof="1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510CAC-435A-1346-BB9A-6E9658878A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70581" y="3925218"/>
            <a:ext cx="2812282" cy="554643"/>
          </a:xfrm>
        </p:spPr>
        <p:txBody>
          <a:bodyPr/>
          <a:lstStyle/>
          <a:p>
            <a:r>
              <a:rPr lang="en-US" dirty="0"/>
              <a:t>Trends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CBBABC8-3407-50D0-D79F-657D1DAF4C5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31291" y="4582977"/>
            <a:ext cx="2812282" cy="1242556"/>
          </a:xfrm>
        </p:spPr>
        <p:txBody>
          <a:bodyPr/>
          <a:lstStyle/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Understanding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Awareness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Decision-making</a:t>
            </a:r>
            <a:endParaRPr lang="en-US" b="1" noProof="1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7900D32-EF83-CCFE-82DC-D74D322901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31291" y="3925218"/>
            <a:ext cx="2812282" cy="554643"/>
          </a:xfrm>
        </p:spPr>
        <p:txBody>
          <a:bodyPr/>
          <a:lstStyle/>
          <a:p>
            <a:r>
              <a:rPr lang="en-US" dirty="0"/>
              <a:t>Insights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BC58F2E-FCEE-1F81-0EAE-18D93B874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511184" y="3716527"/>
            <a:ext cx="9169633" cy="0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9B63D1D-817E-E5CE-71DF-1E328523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58121" y="2630172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A39A689-725A-F952-5B69-AC80788ED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19527" y="2630172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bject 7" descr="Beige rectangle">
            <a:extLst>
              <a:ext uri="{FF2B5EF4-FFF2-40B4-BE49-F238E27FC236}">
                <a16:creationId xmlns:a16="http://schemas.microsoft.com/office/drawing/2014/main" id="{9A2F5A89-74E2-AB2A-E17F-276DEF7A063A}"/>
              </a:ext>
            </a:extLst>
          </p:cNvPr>
          <p:cNvSpPr/>
          <p:nvPr/>
        </p:nvSpPr>
        <p:spPr bwMode="white">
          <a:xfrm flipV="1">
            <a:off x="722099" y="1277068"/>
            <a:ext cx="2812282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2536995-7EB8-8DA5-0A94-217774443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98187" y="1803828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63AE9C0-EBE4-61B7-FE8E-E01E364E6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458121" y="1803828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0E0663C-D548-9149-769C-5703BF24B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019527" y="1803828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7C9C205-6132-7382-F8D9-19B3CD844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98187" y="3960036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F5CA3D5-3F7E-C607-CC99-2DA86DE0D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458121" y="3774218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F95A001-4783-4FA9-926E-AC42D648E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58121" y="4752270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 descr="Upward trend">
            <a:extLst>
              <a:ext uri="{FF2B5EF4-FFF2-40B4-BE49-F238E27FC236}">
                <a16:creationId xmlns:a16="http://schemas.microsoft.com/office/drawing/2014/main" id="{DFE9F3D3-E55E-2A01-C629-2B0B8634D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52061" y="1964540"/>
            <a:ext cx="409576" cy="409576"/>
          </a:xfrm>
          <a:prstGeom prst="rect">
            <a:avLst/>
          </a:prstGeom>
        </p:spPr>
      </p:pic>
      <p:pic>
        <p:nvPicPr>
          <p:cNvPr id="23" name="Graphic 22" descr="Presentation with pie chart with solid fill">
            <a:extLst>
              <a:ext uri="{FF2B5EF4-FFF2-40B4-BE49-F238E27FC236}">
                <a16:creationId xmlns:a16="http://schemas.microsoft.com/office/drawing/2014/main" id="{0920DC7D-5CBD-E85B-66A4-5A507F2974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1858" y="1922014"/>
            <a:ext cx="415512" cy="432289"/>
          </a:xfrm>
          <a:prstGeom prst="rect">
            <a:avLst/>
          </a:prstGeom>
        </p:spPr>
      </p:pic>
      <p:pic>
        <p:nvPicPr>
          <p:cNvPr id="27" name="Graphic 26" descr="Bar chart RTL">
            <a:extLst>
              <a:ext uri="{FF2B5EF4-FFF2-40B4-BE49-F238E27FC236}">
                <a16:creationId xmlns:a16="http://schemas.microsoft.com/office/drawing/2014/main" id="{9F074859-B799-A021-CBB7-EBDDFD250E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98188" y="4127751"/>
            <a:ext cx="424822" cy="424822"/>
          </a:xfrm>
          <a:prstGeom prst="rect">
            <a:avLst/>
          </a:prstGeom>
        </p:spPr>
      </p:pic>
      <p:pic>
        <p:nvPicPr>
          <p:cNvPr id="30" name="Graphic 29" descr="Eye with solid fill">
            <a:extLst>
              <a:ext uri="{FF2B5EF4-FFF2-40B4-BE49-F238E27FC236}">
                <a16:creationId xmlns:a16="http://schemas.microsoft.com/office/drawing/2014/main" id="{830B2B1F-BB62-3151-156A-28992476EA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93309" y="3779106"/>
            <a:ext cx="444756" cy="622934"/>
          </a:xfrm>
          <a:prstGeom prst="rect">
            <a:avLst/>
          </a:prstGeom>
        </p:spPr>
      </p:pic>
      <p:pic>
        <p:nvPicPr>
          <p:cNvPr id="16" name="Graphic 15" descr="Laptop">
            <a:extLst>
              <a:ext uri="{FF2B5EF4-FFF2-40B4-BE49-F238E27FC236}">
                <a16:creationId xmlns:a16="http://schemas.microsoft.com/office/drawing/2014/main" id="{3C8DF658-4039-2BA7-83FF-19AD73208EF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12507" y="1935390"/>
            <a:ext cx="462986" cy="46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9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7FA3A-7B88-ADE1-934F-77C1F155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C67BBFC5-D18F-A84A-0A20-69D8EDE8066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ABEEB2D-EC35-ABEA-0F45-74AC40C6B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C1C0F-D84A-0903-55D9-EFD3DA0E37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0AFBD4-9394-9A3B-4649-62975E49E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72" y="345762"/>
            <a:ext cx="11665655" cy="579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31732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2F5E3-4E72-85D5-4F0A-4EC6F03C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A6C6EBCC-A390-4C83-1789-CA8DC82FC4C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B7F3B49-17ED-977F-694A-52F87F39A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9999" y="242677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3D2908-2659-03A8-3A22-D121B7B10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DASHBOARD CREATION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A8E0B-0B68-21CC-3558-86E4953FF1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EA99E-1A6F-651A-DFF7-0694C9B84D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581" y="2433564"/>
            <a:ext cx="2812282" cy="1242556"/>
          </a:xfrm>
        </p:spPr>
        <p:txBody>
          <a:bodyPr/>
          <a:lstStyle/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Import File (.</a:t>
            </a:r>
            <a:r>
              <a:rPr lang="en-US" b="1" dirty="0" err="1"/>
              <a:t>xsls</a:t>
            </a:r>
            <a:r>
              <a:rPr lang="en-US" b="1" dirty="0"/>
              <a:t> .csv .</a:t>
            </a:r>
            <a:r>
              <a:rPr lang="en-US" b="1" dirty="0" err="1"/>
              <a:t>json</a:t>
            </a:r>
            <a:r>
              <a:rPr lang="en-US" b="1" dirty="0"/>
              <a:t> )</a:t>
            </a:r>
          </a:p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Select Sheets or Tables </a:t>
            </a:r>
          </a:p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Accessibility</a:t>
            </a:r>
          </a:p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en-US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3CEB62-C987-B61E-5682-F3E846DB0B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70581" y="1566067"/>
            <a:ext cx="2812282" cy="764382"/>
          </a:xfrm>
        </p:spPr>
        <p:txBody>
          <a:bodyPr/>
          <a:lstStyle/>
          <a:p>
            <a:r>
              <a:rPr lang="en-US" dirty="0"/>
              <a:t>Imported Excel data into Power BI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954DE4-6DC4-EBC5-B2D8-AEB212F2D2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1291" y="2433564"/>
            <a:ext cx="2812282" cy="1242556"/>
          </a:xfrm>
        </p:spPr>
        <p:txBody>
          <a:bodyPr/>
          <a:lstStyle/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Select Report View </a:t>
            </a:r>
          </a:p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Select Chart (cluster column ,bar chart … )</a:t>
            </a:r>
          </a:p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dirty="0" err="1"/>
              <a:t>Reformatt</a:t>
            </a:r>
            <a:r>
              <a:rPr lang="en-US" b="1" dirty="0"/>
              <a:t> the chart from Build Visual </a:t>
            </a:r>
          </a:p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en-US" b="1" noProof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56C7F5-6E46-44E5-95D8-813B7D2561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31291" y="1566066"/>
            <a:ext cx="2812282" cy="764383"/>
          </a:xfrm>
        </p:spPr>
        <p:txBody>
          <a:bodyPr/>
          <a:lstStyle/>
          <a:p>
            <a:pPr>
              <a:buClr>
                <a:srgbClr val="FF0000"/>
              </a:buClr>
            </a:pPr>
            <a:r>
              <a:rPr lang="en-US" dirty="0"/>
              <a:t>Designed an interactive dashboard with slicers and filters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AA4466-CE98-0BD6-7515-7C655DA333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92000" y="2433564"/>
            <a:ext cx="2812282" cy="1242556"/>
          </a:xfrm>
        </p:spPr>
        <p:txBody>
          <a:bodyPr/>
          <a:lstStyle/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Select the data from sheets/tables</a:t>
            </a:r>
          </a:p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Comparison the chart </a:t>
            </a:r>
          </a:p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Visualization</a:t>
            </a:r>
            <a:endParaRPr lang="en-US" b="1" noProof="1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38BA3E0-5097-7F44-EB57-BA8ECF6647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92000" y="1566065"/>
            <a:ext cx="2812282" cy="764383"/>
          </a:xfrm>
        </p:spPr>
        <p:txBody>
          <a:bodyPr/>
          <a:lstStyle/>
          <a:p>
            <a:r>
              <a:rPr lang="en-US" dirty="0"/>
              <a:t>Loan Status Overview, Credit Score Impact, Age Distribution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0326D1-94DD-1FAD-F49D-718FB0C8313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70581" y="4752270"/>
            <a:ext cx="2812282" cy="1073262"/>
          </a:xfrm>
        </p:spPr>
        <p:txBody>
          <a:bodyPr/>
          <a:lstStyle/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Filtering</a:t>
            </a:r>
          </a:p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Customization</a:t>
            </a:r>
          </a:p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Exploration</a:t>
            </a:r>
            <a:endParaRPr lang="en-US" b="1" noProof="1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21FF58-173C-79F8-452B-5D0C334937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70581" y="3676120"/>
            <a:ext cx="2812282" cy="803741"/>
          </a:xfrm>
        </p:spPr>
        <p:txBody>
          <a:bodyPr/>
          <a:lstStyle/>
          <a:p>
            <a:r>
              <a:rPr lang="en-US" dirty="0"/>
              <a:t>Designed an interactive dashboard using slicers and filters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912B09D-258F-709A-B948-557551D669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31291" y="4752269"/>
            <a:ext cx="2812282" cy="1073263"/>
          </a:xfrm>
        </p:spPr>
        <p:txBody>
          <a:bodyPr/>
          <a:lstStyle/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Analysis</a:t>
            </a:r>
          </a:p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Assessment</a:t>
            </a:r>
          </a:p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noProof="1"/>
              <a:t>Analysis Risk &amp; </a:t>
            </a:r>
            <a:r>
              <a:rPr lang="en-US" b="1" dirty="0"/>
              <a:t>Comparison Data</a:t>
            </a:r>
          </a:p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noProof="1"/>
              <a:t>Adjust Slicing ,Filter ,Card &amp; Charts </a:t>
            </a:r>
          </a:p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b="1" noProof="1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F30E05A-3B47-5992-B4EC-3F41B114B6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31291" y="3729620"/>
            <a:ext cx="2812282" cy="750242"/>
          </a:xfrm>
        </p:spPr>
        <p:txBody>
          <a:bodyPr/>
          <a:lstStyle/>
          <a:p>
            <a:r>
              <a:rPr lang="en-US" dirty="0"/>
              <a:t>Included Debt-to-Income Ratio visualization to assess financial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CE54BE6-FAD9-913E-D569-71FAEAFF4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511183" y="3437593"/>
            <a:ext cx="9169633" cy="0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040CCBD-0513-7470-9780-4A9778966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58121" y="2630172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BDEEEBB-9151-E59D-7EE4-B267EA76BA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19527" y="2630172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bject 7" descr="Beige rectangle">
            <a:extLst>
              <a:ext uri="{FF2B5EF4-FFF2-40B4-BE49-F238E27FC236}">
                <a16:creationId xmlns:a16="http://schemas.microsoft.com/office/drawing/2014/main" id="{CA3C5F5E-EFC1-1601-46E0-5280BA697F1F}"/>
              </a:ext>
            </a:extLst>
          </p:cNvPr>
          <p:cNvSpPr/>
          <p:nvPr/>
        </p:nvSpPr>
        <p:spPr bwMode="white">
          <a:xfrm flipV="1">
            <a:off x="722099" y="1277068"/>
            <a:ext cx="2812282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5ABA426-EC79-18AB-A8C5-8F8892733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98187" y="1566065"/>
            <a:ext cx="462986" cy="62705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08520B-C7D0-E493-E0CC-9B138CF17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458121" y="1594430"/>
            <a:ext cx="462986" cy="598691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A511AA8-9B12-DA92-58C7-091316AD1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019527" y="1594430"/>
            <a:ext cx="462986" cy="598682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4ABEDF9-EC82-1903-F8BC-BDFF382D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98187" y="3599540"/>
            <a:ext cx="462986" cy="62705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7D4BC51-03F6-5A30-C806-0E329E654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458121" y="3599540"/>
            <a:ext cx="462986" cy="62705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09DAF79-F030-C0AD-E24F-F349D4E37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58121" y="4752270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 descr="Database with solid fill">
            <a:extLst>
              <a:ext uri="{FF2B5EF4-FFF2-40B4-BE49-F238E27FC236}">
                <a16:creationId xmlns:a16="http://schemas.microsoft.com/office/drawing/2014/main" id="{58D9EBE8-4EE6-B3BE-8BCE-CB84EDB62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94" y="1678395"/>
            <a:ext cx="477527" cy="437137"/>
          </a:xfrm>
          <a:prstGeom prst="rect">
            <a:avLst/>
          </a:prstGeom>
        </p:spPr>
      </p:pic>
      <p:pic>
        <p:nvPicPr>
          <p:cNvPr id="17" name="Graphic 16" descr="Pie chart with solid fill">
            <a:extLst>
              <a:ext uri="{FF2B5EF4-FFF2-40B4-BE49-F238E27FC236}">
                <a16:creationId xmlns:a16="http://schemas.microsoft.com/office/drawing/2014/main" id="{64E822D1-B1BF-429D-9A18-D83853A017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96298" y="1668790"/>
            <a:ext cx="391430" cy="418108"/>
          </a:xfrm>
          <a:prstGeom prst="rect">
            <a:avLst/>
          </a:prstGeom>
        </p:spPr>
      </p:pic>
      <p:pic>
        <p:nvPicPr>
          <p:cNvPr id="21" name="Graphic 20" descr="Network with solid fill">
            <a:extLst>
              <a:ext uri="{FF2B5EF4-FFF2-40B4-BE49-F238E27FC236}">
                <a16:creationId xmlns:a16="http://schemas.microsoft.com/office/drawing/2014/main" id="{2218EFEC-9C2B-FF5E-908B-620EBF4753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9510" y="1715343"/>
            <a:ext cx="403019" cy="356856"/>
          </a:xfrm>
          <a:prstGeom prst="rect">
            <a:avLst/>
          </a:prstGeom>
        </p:spPr>
      </p:pic>
      <p:pic>
        <p:nvPicPr>
          <p:cNvPr id="23" name="Graphic 22" descr="Bar graph with downward trend with solid fill">
            <a:extLst>
              <a:ext uri="{FF2B5EF4-FFF2-40B4-BE49-F238E27FC236}">
                <a16:creationId xmlns:a16="http://schemas.microsoft.com/office/drawing/2014/main" id="{0D3AB0C6-B922-1AD7-B280-1E93C20AB5E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9579" y="3704246"/>
            <a:ext cx="376555" cy="489903"/>
          </a:xfrm>
          <a:prstGeom prst="rect">
            <a:avLst/>
          </a:prstGeom>
        </p:spPr>
      </p:pic>
      <p:pic>
        <p:nvPicPr>
          <p:cNvPr id="25" name="Graphic 24" descr="Lightbulb with solid fill">
            <a:extLst>
              <a:ext uri="{FF2B5EF4-FFF2-40B4-BE49-F238E27FC236}">
                <a16:creationId xmlns:a16="http://schemas.microsoft.com/office/drawing/2014/main" id="{9483002D-9A46-4784-E8F2-6B7A41A930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63907" y="3645647"/>
            <a:ext cx="457200" cy="47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29235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7F4DF-7E58-3BD0-2695-01C45261F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FE71BA3-3CC2-6DD6-C84C-A5178C3AC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DASHBOARD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0B343-079C-F5FC-F74A-FC4E5493F4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7D12EC0-182D-4777-9DD9-67D4E5802F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2863" y="3857676"/>
            <a:ext cx="3276000" cy="22388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Analyzed how different age groups influence loan approval and default trends.</a:t>
            </a:r>
          </a:p>
          <a:p>
            <a:pPr>
              <a:lnSpc>
                <a:spcPct val="150000"/>
              </a:lnSpc>
            </a:pPr>
            <a:r>
              <a:rPr lang="en-US" dirty="0"/>
              <a:t>Compared loan performance and repayment behavior across genders.</a:t>
            </a:r>
          </a:p>
          <a:p>
            <a:pPr>
              <a:lnSpc>
                <a:spcPct val="150000"/>
              </a:lnSpc>
            </a:pPr>
            <a:r>
              <a:rPr lang="en-US" dirty="0"/>
              <a:t>Enabled users to customize views and gain targeted insights for better analysis.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C031877-D8D7-A6DD-CC8D-8E08087131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2863" y="2912103"/>
            <a:ext cx="3276000" cy="516898"/>
          </a:xfrm>
        </p:spPr>
        <p:txBody>
          <a:bodyPr/>
          <a:lstStyle/>
          <a:p>
            <a:r>
              <a:rPr lang="en-US" dirty="0"/>
              <a:t>Filter by Age, Gender, Loan Type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FCC018F-1693-9CD0-DA3E-50FCDC3DF0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432" y="3857676"/>
            <a:ext cx="3276000" cy="22388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Calculated the percentage of borrowers who failed to repay loans on time.</a:t>
            </a:r>
          </a:p>
          <a:p>
            <a:pPr>
              <a:lnSpc>
                <a:spcPct val="150000"/>
              </a:lnSpc>
            </a:pPr>
            <a:r>
              <a:rPr lang="en-US" dirty="0"/>
              <a:t>Examined how income levels affect the likelihood of loan default.</a:t>
            </a:r>
          </a:p>
          <a:p>
            <a:pPr>
              <a:lnSpc>
                <a:spcPct val="150000"/>
              </a:lnSpc>
            </a:pPr>
            <a:r>
              <a:rPr lang="en-US" dirty="0"/>
              <a:t>Displayed trends through bar and line charts for clear interpretation.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E3889FF-BC6C-8EEF-C49A-4BE6F749E2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432" y="2912102"/>
            <a:ext cx="3276000" cy="516899"/>
          </a:xfrm>
        </p:spPr>
        <p:txBody>
          <a:bodyPr/>
          <a:lstStyle/>
          <a:p>
            <a:r>
              <a:rPr lang="en-US" dirty="0"/>
              <a:t>Default Rate, and Average Income. 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4479DB1-3C99-4C72-77BA-B408B4B449D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08000" y="3857676"/>
            <a:ext cx="3276000" cy="22388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Measures the proportion of loans that were not repaid within the due period.</a:t>
            </a:r>
          </a:p>
          <a:p>
            <a:pPr>
              <a:lnSpc>
                <a:spcPct val="150000"/>
              </a:lnSpc>
            </a:pPr>
            <a:r>
              <a:rPr lang="en-US" dirty="0"/>
              <a:t>Shows the mean income level of borrowers in the dataset.</a:t>
            </a:r>
          </a:p>
          <a:p>
            <a:pPr>
              <a:lnSpc>
                <a:spcPct val="150000"/>
              </a:lnSpc>
            </a:pPr>
            <a:r>
              <a:rPr lang="en-US" dirty="0"/>
              <a:t>Assists banks in setting income-based eligibility and risk assessment criteria.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5B311A6-E3D1-343E-817A-D9F93B99250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8000" y="2915235"/>
            <a:ext cx="3276000" cy="513765"/>
          </a:xfrm>
        </p:spPr>
        <p:txBody>
          <a:bodyPr/>
          <a:lstStyle/>
          <a:p>
            <a:r>
              <a:rPr lang="en-AU" dirty="0"/>
              <a:t>Helps To Analysis The Data</a:t>
            </a:r>
            <a:endParaRPr lang="en-US" dirty="0"/>
          </a:p>
        </p:txBody>
      </p:sp>
      <p:sp>
        <p:nvSpPr>
          <p:cNvPr id="30" name="object 7" descr="Beige rectangle">
            <a:extLst>
              <a:ext uri="{FF2B5EF4-FFF2-40B4-BE49-F238E27FC236}">
                <a16:creationId xmlns:a16="http://schemas.microsoft.com/office/drawing/2014/main" id="{1C232066-FD7B-EA35-7B92-AF5DC6CDD784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F7BFDD6-0834-44E5-59BE-445C470D3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164878" y="1733550"/>
            <a:ext cx="1177348" cy="992451"/>
            <a:chOff x="9164878" y="1733550"/>
            <a:chExt cx="1177348" cy="992451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A1EB7A5F-9BFD-BCD9-9746-E3D3BD4E15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49775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F2169EC-64FE-3FEE-4C6F-B292DA945FAE}"/>
                </a:ext>
              </a:extLst>
            </p:cNvPr>
            <p:cNvSpPr/>
            <p:nvPr/>
          </p:nvSpPr>
          <p:spPr>
            <a:xfrm>
              <a:off x="9164878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38EED9E-CCFC-4E8E-ED5D-EC2E6FA12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24638" y="1733550"/>
            <a:ext cx="1192959" cy="992451"/>
            <a:chOff x="1824638" y="1733550"/>
            <a:chExt cx="1192959" cy="99245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9A7F92D-A237-9FAA-632D-BAF39CA7CF80}"/>
                </a:ext>
              </a:extLst>
            </p:cNvPr>
            <p:cNvSpPr/>
            <p:nvPr/>
          </p:nvSpPr>
          <p:spPr>
            <a:xfrm>
              <a:off x="1824638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FB8CEA3A-EAB6-7235-62C3-910D5B39AE86}"/>
                </a:ext>
              </a:extLst>
            </p:cNvPr>
            <p:cNvSpPr/>
            <p:nvPr/>
          </p:nvSpPr>
          <p:spPr>
            <a:xfrm>
              <a:off x="1925901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D681D9C-245F-CABB-57A8-DD904432C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999" y="1607028"/>
            <a:ext cx="1200866" cy="1200866"/>
            <a:chOff x="5482999" y="1607028"/>
            <a:chExt cx="1200866" cy="120086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9A49E5A-37A5-B40E-66BD-C28AAFD39531}"/>
                </a:ext>
              </a:extLst>
            </p:cNvPr>
            <p:cNvSpPr/>
            <p:nvPr/>
          </p:nvSpPr>
          <p:spPr>
            <a:xfrm>
              <a:off x="5587207" y="1711236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D1157C6-0794-D216-D6E5-B236FF8C098D}"/>
                </a:ext>
              </a:extLst>
            </p:cNvPr>
            <p:cNvSpPr/>
            <p:nvPr/>
          </p:nvSpPr>
          <p:spPr>
            <a:xfrm>
              <a:off x="5482999" y="1607028"/>
              <a:ext cx="1200866" cy="120086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" name="Picture Placeholder 15" descr="Bar graph with upward trend with solid fill">
            <a:extLst>
              <a:ext uri="{FF2B5EF4-FFF2-40B4-BE49-F238E27FC236}">
                <a16:creationId xmlns:a16="http://schemas.microsoft.com/office/drawing/2014/main" id="{A190F6C2-D8FB-264C-4BDE-707D7CADB371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671475" y="1852741"/>
            <a:ext cx="823913" cy="823913"/>
          </a:xfrm>
        </p:spPr>
      </p:pic>
      <p:pic>
        <p:nvPicPr>
          <p:cNvPr id="26" name="Picture Placeholder 25" descr="Family with boy">
            <a:extLst>
              <a:ext uri="{FF2B5EF4-FFF2-40B4-BE49-F238E27FC236}">
                <a16:creationId xmlns:a16="http://schemas.microsoft.com/office/drawing/2014/main" id="{131C5114-9A77-A332-7433-7787D1B66F59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93176" y="1795504"/>
            <a:ext cx="823913" cy="823913"/>
          </a:xfrm>
        </p:spPr>
      </p:pic>
      <p:pic>
        <p:nvPicPr>
          <p:cNvPr id="31" name="Picture Placeholder 30" descr="Bank">
            <a:extLst>
              <a:ext uri="{FF2B5EF4-FFF2-40B4-BE49-F238E27FC236}">
                <a16:creationId xmlns:a16="http://schemas.microsoft.com/office/drawing/2014/main" id="{7B2A4835-8E36-7068-D7DA-7F58E78D3F68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491179" y="1852740"/>
            <a:ext cx="721779" cy="721779"/>
          </a:xfrm>
        </p:spPr>
      </p:pic>
    </p:spTree>
    <p:extLst>
      <p:ext uri="{BB962C8B-B14F-4D97-AF65-F5344CB8AC3E}">
        <p14:creationId xmlns:p14="http://schemas.microsoft.com/office/powerpoint/2010/main" val="616756044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F12EC-9D59-B385-1B9E-75CD4D677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C3E7145B-6E11-2192-D5AD-7E870983734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C82A6F6-F4BA-5F62-DFEF-6A30C65EE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FFAAF-E1C3-05B1-0B09-B5A60CACD6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A6DB92-4A87-95D0-F153-777BCA094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179109"/>
            <a:ext cx="11832000" cy="651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36271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8308-C1EA-4886-CC88-7DCE28935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CDAA2BC6-9868-07AC-B2FC-C18AFDD72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 INSIGHTS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C36E1-5D41-1978-C0B4-B06828BE48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A851FFE-BC46-A903-B5BF-AED2B6F11A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2863" y="3857676"/>
            <a:ext cx="3276000" cy="223881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Displays how loan defaults vary over time and across borrower segments.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Reveals relationships between income, credit score, and default behavior.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Uses charts and graphs to make complex data easily understandable.</a:t>
            </a:r>
            <a:endParaRPr lang="en-US" noProof="1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46B7521-A134-626D-7284-82C8BDA1F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2863" y="2912103"/>
            <a:ext cx="3276000" cy="516897"/>
          </a:xfrm>
        </p:spPr>
        <p:txBody>
          <a:bodyPr/>
          <a:lstStyle/>
          <a:p>
            <a:r>
              <a:rPr lang="en-US" dirty="0"/>
              <a:t>Dashboard highlights default trends and key patterns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5ECA638-69E6-8FDC-0CE4-C4719D6B44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432" y="3857676"/>
            <a:ext cx="3276000" cy="223881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Classifies borrowers based on default probability and financial stability.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Helps focus on segments more likely to default for preventive action.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banks to adjust loan terms or decline risky applications early.</a:t>
            </a:r>
            <a:endParaRPr lang="en-US" noProof="1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14855D2-E2AB-E14B-C95A-10FDD965A8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432" y="2912103"/>
            <a:ext cx="3276000" cy="516898"/>
          </a:xfrm>
        </p:spPr>
        <p:txBody>
          <a:bodyPr/>
          <a:lstStyle/>
          <a:p>
            <a:r>
              <a:rPr lang="en-US" dirty="0"/>
              <a:t>Easy identification of high-risk customer segments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E6408F6-42BD-E2CA-343E-E8B0673A13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08000" y="3857676"/>
            <a:ext cx="3276000" cy="223881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Relies on real loan data instead of assumptions for analysis.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Enhances reliability in loan approvals and risk assessments.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Helps banks design effective lending policies and minimize financial losses.</a:t>
            </a:r>
          </a:p>
          <a:p>
            <a:pPr>
              <a:lnSpc>
                <a:spcPct val="150000"/>
              </a:lnSpc>
            </a:pPr>
            <a:endParaRPr lang="en-US" noProof="1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8F6D84E-3CB2-3342-6393-C8D8570FF5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8000" y="2912103"/>
            <a:ext cx="3276000" cy="516897"/>
          </a:xfrm>
        </p:spPr>
        <p:txBody>
          <a:bodyPr/>
          <a:lstStyle/>
          <a:p>
            <a:r>
              <a:rPr lang="en-US" dirty="0"/>
              <a:t>Data-driven approach supports decision making</a:t>
            </a:r>
          </a:p>
        </p:txBody>
      </p:sp>
      <p:sp>
        <p:nvSpPr>
          <p:cNvPr id="30" name="object 7" descr="Beige rectangle">
            <a:extLst>
              <a:ext uri="{FF2B5EF4-FFF2-40B4-BE49-F238E27FC236}">
                <a16:creationId xmlns:a16="http://schemas.microsoft.com/office/drawing/2014/main" id="{80B4E183-6186-CF61-C2D2-4A6179D5D319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370FF52-4E87-6BA6-9E7C-E5328671B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164878" y="1733550"/>
            <a:ext cx="1177348" cy="992451"/>
            <a:chOff x="9164878" y="1733550"/>
            <a:chExt cx="1177348" cy="992451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8247CFB-2B74-736D-6476-EF3944F56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49775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CAD6D04-FCFD-2D01-855C-A427F82AFD45}"/>
                </a:ext>
              </a:extLst>
            </p:cNvPr>
            <p:cNvSpPr/>
            <p:nvPr/>
          </p:nvSpPr>
          <p:spPr>
            <a:xfrm>
              <a:off x="9164878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201BFA3-5595-671D-55DE-E7D575B86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24638" y="1733550"/>
            <a:ext cx="1192959" cy="992451"/>
            <a:chOff x="1824638" y="1733550"/>
            <a:chExt cx="1192959" cy="99245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72DE128-CFED-C73E-51DE-247BE18AC41B}"/>
                </a:ext>
              </a:extLst>
            </p:cNvPr>
            <p:cNvSpPr/>
            <p:nvPr/>
          </p:nvSpPr>
          <p:spPr>
            <a:xfrm>
              <a:off x="1824638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764D9F8-2FB2-E3B5-5A0B-E29FEDD71A4B}"/>
                </a:ext>
              </a:extLst>
            </p:cNvPr>
            <p:cNvSpPr/>
            <p:nvPr/>
          </p:nvSpPr>
          <p:spPr>
            <a:xfrm>
              <a:off x="1925901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6D2CB58-37ED-2452-A7F1-FCE400189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999" y="1607028"/>
            <a:ext cx="1200866" cy="1200866"/>
            <a:chOff x="5482999" y="1607028"/>
            <a:chExt cx="1200866" cy="120086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41EC4FF-564A-F905-CE54-836178FD5CAC}"/>
                </a:ext>
              </a:extLst>
            </p:cNvPr>
            <p:cNvSpPr/>
            <p:nvPr/>
          </p:nvSpPr>
          <p:spPr>
            <a:xfrm>
              <a:off x="5587207" y="1711236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3FA6C75E-C7EA-E371-75C1-BEF425807636}"/>
                </a:ext>
              </a:extLst>
            </p:cNvPr>
            <p:cNvSpPr/>
            <p:nvPr/>
          </p:nvSpPr>
          <p:spPr>
            <a:xfrm>
              <a:off x="5482999" y="1607028"/>
              <a:ext cx="1200866" cy="120086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Picture Placeholder 8" descr="Research">
            <a:extLst>
              <a:ext uri="{FF2B5EF4-FFF2-40B4-BE49-F238E27FC236}">
                <a16:creationId xmlns:a16="http://schemas.microsoft.com/office/drawing/2014/main" id="{E5804199-55FC-49C6-1EC1-47858B9476E4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08906" y="1819672"/>
            <a:ext cx="823913" cy="823913"/>
          </a:xfrm>
        </p:spPr>
      </p:pic>
      <p:pic>
        <p:nvPicPr>
          <p:cNvPr id="13" name="Picture Placeholder 12" descr="Brain in head with solid fill">
            <a:extLst>
              <a:ext uri="{FF2B5EF4-FFF2-40B4-BE49-F238E27FC236}">
                <a16:creationId xmlns:a16="http://schemas.microsoft.com/office/drawing/2014/main" id="{3509A5D3-F33E-6322-2F64-2F0A395BFE0D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5683507" y="1825654"/>
            <a:ext cx="823913" cy="823913"/>
          </a:xfrm>
        </p:spPr>
      </p:pic>
      <p:pic>
        <p:nvPicPr>
          <p:cNvPr id="24" name="Picture Placeholder 23" descr="Brain with solid fill">
            <a:extLst>
              <a:ext uri="{FF2B5EF4-FFF2-40B4-BE49-F238E27FC236}">
                <a16:creationId xmlns:a16="http://schemas.microsoft.com/office/drawing/2014/main" id="{CE7D02BA-8C9E-6D49-8D48-C8F972E09143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349775" y="1873852"/>
            <a:ext cx="823913" cy="823913"/>
          </a:xfrm>
        </p:spPr>
      </p:pic>
    </p:spTree>
    <p:extLst>
      <p:ext uri="{BB962C8B-B14F-4D97-AF65-F5344CB8AC3E}">
        <p14:creationId xmlns:p14="http://schemas.microsoft.com/office/powerpoint/2010/main" val="2281803306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66C58-8AAF-38E9-AB3F-529EAD04B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D9CD6A93-5773-69BC-F3B6-E8031619D19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4C1FC0F-CEB2-4DEB-E554-F5B71F1E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215010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35E539-22AF-1199-817D-EB1BD6AB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IMPACT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67292-09F3-1C41-5C99-BD96BC33B4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A9F469-5A4D-72BD-D0FC-B6DB8C6E52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581" y="2433564"/>
            <a:ext cx="2812282" cy="1241508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Analyzes applicants’ credit history, income, and financial stability.</a:t>
            </a: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Helps banks approve reliable applicants and reduce potential defaults.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09AD18-1A03-D6E6-21A6-920D83C432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70581" y="1775805"/>
            <a:ext cx="2812282" cy="554643"/>
          </a:xfrm>
        </p:spPr>
        <p:txBody>
          <a:bodyPr/>
          <a:lstStyle/>
          <a:p>
            <a:r>
              <a:rPr lang="en-US" dirty="0"/>
              <a:t>Improved risk assessment for new applicants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F4C27BE-4FEA-5A02-CCA0-96C2BD3D1B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1291" y="2433564"/>
            <a:ext cx="2812282" cy="1039454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noProof="1"/>
              <a:t>Identifies potential defaulters before loan approval.</a:t>
            </a: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noProof="1"/>
              <a:t>Enables banks to adjust interest rates or loan terms for high-risk borrowers.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B602C1F-64FD-4D50-2A1E-7731C8A5C8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31291" y="1775805"/>
            <a:ext cx="2812282" cy="554643"/>
          </a:xfrm>
        </p:spPr>
        <p:txBody>
          <a:bodyPr/>
          <a:lstStyle/>
          <a:p>
            <a:r>
              <a:rPr lang="en-US" dirty="0"/>
              <a:t>Reduced financial losses from defaults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1EFAEA0-8EF6-0705-7D75-7053DB8649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92000" y="2433564"/>
            <a:ext cx="2812282" cy="1038407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noProof="1"/>
              <a:t>Utilizes data models to forecast default probabilities accurately.</a:t>
            </a: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noProof="1"/>
              <a:t>Presents complex data through clear, interactive visualizations.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11DB777-C29F-A005-7E5B-07F50867D72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92000" y="1775805"/>
            <a:ext cx="2812282" cy="554643"/>
          </a:xfrm>
        </p:spPr>
        <p:txBody>
          <a:bodyPr/>
          <a:lstStyle/>
          <a:p>
            <a:r>
              <a:rPr lang="en-US" dirty="0"/>
              <a:t>Enhanced decision-making through analytical insights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1368143-CE3B-C0BF-5799-1C104E83BD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70581" y="4856165"/>
            <a:ext cx="2812282" cy="1011701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Enabled early identification of high-risk borrowers.</a:t>
            </a: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Significantly reducing default risk and improving portfolio quality.</a:t>
            </a: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b="1" noProof="1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CB873B9-C1B8-C2E4-16D0-10A7B55C514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70581" y="4280784"/>
            <a:ext cx="2812282" cy="433809"/>
          </a:xfrm>
        </p:spPr>
        <p:txBody>
          <a:bodyPr/>
          <a:lstStyle/>
          <a:p>
            <a:r>
              <a:rPr lang="en-US" dirty="0"/>
              <a:t>Enhanced Risk Management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DB759A7-AC27-AB6A-0472-506513FADA3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31290" y="4813831"/>
            <a:ext cx="3066615" cy="1235983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Helps adjust loan policies and interest rates for high-risk borrowers.</a:t>
            </a: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Minimizes bad debts and strengthens overall financial stability.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A32E4E9-2701-32AB-CD9A-E7E7C40B24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31291" y="4255275"/>
            <a:ext cx="2812282" cy="459321"/>
          </a:xfrm>
        </p:spPr>
        <p:txBody>
          <a:bodyPr/>
          <a:lstStyle/>
          <a:p>
            <a:r>
              <a:rPr lang="en-US" dirty="0"/>
              <a:t>Reduced Financial Losses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C4D0AE6-EE4A-76F6-C647-6CEDBC87C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578296" y="3867529"/>
            <a:ext cx="9169633" cy="0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7AB4199-188E-620E-A1BF-38D42DC8C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58121" y="2630172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67189AF-5D7B-583E-A9A0-7609B37FA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19527" y="2630172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bject 7" descr="Beige rectangle">
            <a:extLst>
              <a:ext uri="{FF2B5EF4-FFF2-40B4-BE49-F238E27FC236}">
                <a16:creationId xmlns:a16="http://schemas.microsoft.com/office/drawing/2014/main" id="{B13E48BD-0860-C4EF-C0B9-E41A5E72CF96}"/>
              </a:ext>
            </a:extLst>
          </p:cNvPr>
          <p:cNvSpPr/>
          <p:nvPr/>
        </p:nvSpPr>
        <p:spPr bwMode="white">
          <a:xfrm flipV="1">
            <a:off x="722099" y="1277068"/>
            <a:ext cx="2812282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490BD1-DA1C-CF88-6829-DC4F8FC8E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98187" y="1803828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D33897B-727E-81D4-8BFE-F070D1B3E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458121" y="1803828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9D04C4B-8963-4C5B-D949-4D97B190F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019527" y="1803828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3E20A3D-CF10-8F26-9485-FBC1B8622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98187" y="4255274"/>
            <a:ext cx="462986" cy="60088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22223A3-FC9B-624F-825A-2B5DCC63D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458121" y="4255275"/>
            <a:ext cx="462986" cy="60088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1D7CCC9-0861-E06B-DD16-879318314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58121" y="5326683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 descr="Bar graph with upward trend">
            <a:extLst>
              <a:ext uri="{FF2B5EF4-FFF2-40B4-BE49-F238E27FC236}">
                <a16:creationId xmlns:a16="http://schemas.microsoft.com/office/drawing/2014/main" id="{6110CD81-2468-5F82-DD04-8A3B3745E0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46689" y="1961442"/>
            <a:ext cx="347938" cy="347938"/>
          </a:xfrm>
          <a:prstGeom prst="rect">
            <a:avLst/>
          </a:prstGeom>
        </p:spPr>
      </p:pic>
      <p:pic>
        <p:nvPicPr>
          <p:cNvPr id="17" name="Graphic 16" descr="Safe">
            <a:extLst>
              <a:ext uri="{FF2B5EF4-FFF2-40B4-BE49-F238E27FC236}">
                <a16:creationId xmlns:a16="http://schemas.microsoft.com/office/drawing/2014/main" id="{96E3C210-ADE2-3345-AEFB-B27431721C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502374" y="1924486"/>
            <a:ext cx="352961" cy="352961"/>
          </a:xfrm>
          <a:prstGeom prst="rect">
            <a:avLst/>
          </a:prstGeom>
        </p:spPr>
      </p:pic>
      <p:pic>
        <p:nvPicPr>
          <p:cNvPr id="21" name="Graphic 20" descr="Lightbulb">
            <a:extLst>
              <a:ext uri="{FF2B5EF4-FFF2-40B4-BE49-F238E27FC236}">
                <a16:creationId xmlns:a16="http://schemas.microsoft.com/office/drawing/2014/main" id="{5A88F3B3-0DA1-4A53-346A-B6248B54E9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036453" y="1903917"/>
            <a:ext cx="462986" cy="462986"/>
          </a:xfrm>
          <a:prstGeom prst="rect">
            <a:avLst/>
          </a:prstGeom>
        </p:spPr>
      </p:pic>
      <p:pic>
        <p:nvPicPr>
          <p:cNvPr id="23" name="Graphic 22" descr="Group brainstorm">
            <a:extLst>
              <a:ext uri="{FF2B5EF4-FFF2-40B4-BE49-F238E27FC236}">
                <a16:creationId xmlns:a16="http://schemas.microsoft.com/office/drawing/2014/main" id="{88778B77-DDA9-1878-BA9E-8C84AA9885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10829" y="4376130"/>
            <a:ext cx="437701" cy="437701"/>
          </a:xfrm>
          <a:prstGeom prst="rect">
            <a:avLst/>
          </a:prstGeom>
        </p:spPr>
      </p:pic>
      <p:pic>
        <p:nvPicPr>
          <p:cNvPr id="25" name="Graphic 24" descr="Bar graph with downward trend">
            <a:extLst>
              <a:ext uri="{FF2B5EF4-FFF2-40B4-BE49-F238E27FC236}">
                <a16:creationId xmlns:a16="http://schemas.microsoft.com/office/drawing/2014/main" id="{250FEFAE-FE1D-92C4-D321-2056FD233D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461948" y="4359830"/>
            <a:ext cx="433810" cy="43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53932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D4FD1-4584-2983-239C-E0EBEA6AF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02D1FC7F-710E-1806-74FE-72047DA2409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8459B87-1A50-EEAC-0BEE-C330FF2C7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204152"/>
            <a:ext cx="11832000" cy="6552797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6C3C62-5A62-82BA-6EEA-770AA747B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415B5-33DA-6663-AAEE-EEF31852A5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7D748-A3B3-F24B-AACC-6CA0754AB4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581" y="2630173"/>
            <a:ext cx="2673579" cy="1897378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Fetches borrower credit scores instantly during loan processing</a:t>
            </a: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Reduces manual verification time for quicker loan decisions.</a:t>
            </a: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Improves risk assessment by using real-time, verified credit data.</a:t>
            </a:r>
          </a:p>
          <a:p>
            <a:pPr marL="171450" indent="-1714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en-US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DB9B70-1B16-7644-840F-FCEFDE9987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70581" y="1775805"/>
            <a:ext cx="2812282" cy="554643"/>
          </a:xfrm>
        </p:spPr>
        <p:txBody>
          <a:bodyPr/>
          <a:lstStyle/>
          <a:p>
            <a:r>
              <a:rPr lang="en-US" dirty="0"/>
              <a:t>Integrate real-time credit score API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F36D01F-3D40-49FA-F78B-36E292995F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1291" y="2630171"/>
            <a:ext cx="2812282" cy="1786637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Groups customers based on income, credit score, and repayment behavior.</a:t>
            </a:r>
            <a:endParaRPr lang="en-US" b="1" noProof="1"/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noProof="1"/>
              <a:t>Helps identify and manage high-risk and low-risk borrower groups.</a:t>
            </a: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Enables banks to tailor loan products for each customer segment.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B889CE6-9275-B9AC-6B72-2DB84BAE52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31291" y="1775805"/>
            <a:ext cx="2812282" cy="554643"/>
          </a:xfrm>
        </p:spPr>
        <p:txBody>
          <a:bodyPr/>
          <a:lstStyle/>
          <a:p>
            <a:r>
              <a:rPr lang="en-US" dirty="0"/>
              <a:t>Add customer segmentation for targeted lending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432444-633D-CA9D-3423-5496444B5C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92000" y="2630170"/>
            <a:ext cx="2812282" cy="1700763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noProof="1"/>
              <a:t>Regularly updates predictive models with new data for better accuracy.</a:t>
            </a: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Tracks model outcomes to identify areas for enhancement.</a:t>
            </a: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b="1" noProof="1"/>
              <a:t>Strengthens decision-making efficiency and boosts long-term business value.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86944D1-FF44-B3FE-3457-63D08F52E5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92000" y="1775805"/>
            <a:ext cx="2812282" cy="554643"/>
          </a:xfrm>
        </p:spPr>
        <p:txBody>
          <a:bodyPr/>
          <a:lstStyle/>
          <a:p>
            <a:r>
              <a:rPr lang="en-US" dirty="0"/>
              <a:t>Continuous improvement will enhance accuracy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7983CC2-31CD-B998-0725-96FDF23B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662186" y="4561311"/>
            <a:ext cx="9169633" cy="0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D343152-54C9-79D0-447A-29DA8AE7B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58121" y="2630172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BFD6759-BCED-6329-2A0E-01DC246B7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19527" y="2630172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bject 7" descr="Beige rectangle">
            <a:extLst>
              <a:ext uri="{FF2B5EF4-FFF2-40B4-BE49-F238E27FC236}">
                <a16:creationId xmlns:a16="http://schemas.microsoft.com/office/drawing/2014/main" id="{E6AEDD03-6A1C-1288-30BB-CE790E8B7AA8}"/>
              </a:ext>
            </a:extLst>
          </p:cNvPr>
          <p:cNvSpPr/>
          <p:nvPr/>
        </p:nvSpPr>
        <p:spPr bwMode="white">
          <a:xfrm flipV="1">
            <a:off x="722099" y="1277068"/>
            <a:ext cx="2812282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A8D376A-8EF3-5B0F-E614-D8FD329D0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98187" y="1803828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082092-6AE4-E20C-A211-4B2892C76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458121" y="1803828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88D750D-3969-DAFF-8F34-5B384F7A0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019527" y="1803828"/>
            <a:ext cx="462986" cy="671118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C63678C-4A7A-75AC-61F2-C8E43E65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70077" y="5029106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Graphic 23" descr="Icon Clock">
            <a:extLst>
              <a:ext uri="{FF2B5EF4-FFF2-40B4-BE49-F238E27FC236}">
                <a16:creationId xmlns:a16="http://schemas.microsoft.com/office/drawing/2014/main" id="{65690E70-263F-2C35-4756-C5329A06E28B}"/>
              </a:ext>
            </a:extLst>
          </p:cNvPr>
          <p:cNvSpPr>
            <a:spLocks noChangeAspect="1"/>
          </p:cNvSpPr>
          <p:nvPr/>
        </p:nvSpPr>
        <p:spPr>
          <a:xfrm>
            <a:off x="990538" y="2000245"/>
            <a:ext cx="278285" cy="278285"/>
          </a:xfrm>
          <a:custGeom>
            <a:avLst/>
            <a:gdLst>
              <a:gd name="connsiteX0" fmla="*/ 657911 w 1314450"/>
              <a:gd name="connsiteY0" fmla="*/ 1315822 h 1314450"/>
              <a:gd name="connsiteX1" fmla="*/ 0 w 1314450"/>
              <a:gd name="connsiteY1" fmla="*/ 657911 h 1314450"/>
              <a:gd name="connsiteX2" fmla="*/ 657911 w 1314450"/>
              <a:gd name="connsiteY2" fmla="*/ 0 h 1314450"/>
              <a:gd name="connsiteX3" fmla="*/ 1315822 w 1314450"/>
              <a:gd name="connsiteY3" fmla="*/ 657911 h 1314450"/>
              <a:gd name="connsiteX4" fmla="*/ 657911 w 1314450"/>
              <a:gd name="connsiteY4" fmla="*/ 1315822 h 1314450"/>
              <a:gd name="connsiteX5" fmla="*/ 657911 w 1314450"/>
              <a:gd name="connsiteY5" fmla="*/ 1315822 h 1314450"/>
              <a:gd name="connsiteX6" fmla="*/ 719947 w 1314450"/>
              <a:gd name="connsiteY6" fmla="*/ 358073 h 1314450"/>
              <a:gd name="connsiteX7" fmla="*/ 614001 w 1314450"/>
              <a:gd name="connsiteY7" fmla="*/ 358073 h 1314450"/>
              <a:gd name="connsiteX8" fmla="*/ 614001 w 1314450"/>
              <a:gd name="connsiteY8" fmla="*/ 620516 h 1314450"/>
              <a:gd name="connsiteX9" fmla="*/ 351558 w 1314450"/>
              <a:gd name="connsiteY9" fmla="*/ 620516 h 1314450"/>
              <a:gd name="connsiteX10" fmla="*/ 351558 w 1314450"/>
              <a:gd name="connsiteY10" fmla="*/ 726453 h 1314450"/>
              <a:gd name="connsiteX11" fmla="*/ 666969 w 1314450"/>
              <a:gd name="connsiteY11" fmla="*/ 726453 h 1314450"/>
              <a:gd name="connsiteX12" fmla="*/ 667388 w 1314450"/>
              <a:gd name="connsiteY12" fmla="*/ 726453 h 1314450"/>
              <a:gd name="connsiteX13" fmla="*/ 705202 w 1314450"/>
              <a:gd name="connsiteY13" fmla="*/ 711613 h 1314450"/>
              <a:gd name="connsiteX14" fmla="*/ 719947 w 1314450"/>
              <a:gd name="connsiteY14" fmla="*/ 673894 h 1314450"/>
              <a:gd name="connsiteX15" fmla="*/ 719947 w 1314450"/>
              <a:gd name="connsiteY15" fmla="*/ 673475 h 1314450"/>
              <a:gd name="connsiteX16" fmla="*/ 719947 w 1314450"/>
              <a:gd name="connsiteY16" fmla="*/ 358073 h 131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14450" h="1314450">
                <a:moveTo>
                  <a:pt x="657911" y="1315822"/>
                </a:moveTo>
                <a:cubicBezTo>
                  <a:pt x="294570" y="1315822"/>
                  <a:pt x="0" y="1021242"/>
                  <a:pt x="0" y="657911"/>
                </a:cubicBezTo>
                <a:cubicBezTo>
                  <a:pt x="0" y="294580"/>
                  <a:pt x="294570" y="0"/>
                  <a:pt x="657911" y="0"/>
                </a:cubicBezTo>
                <a:cubicBezTo>
                  <a:pt x="1021242" y="0"/>
                  <a:pt x="1315822" y="294580"/>
                  <a:pt x="1315822" y="657911"/>
                </a:cubicBezTo>
                <a:cubicBezTo>
                  <a:pt x="1315822" y="1021251"/>
                  <a:pt x="1021242" y="1315822"/>
                  <a:pt x="657911" y="1315822"/>
                </a:cubicBezTo>
                <a:lnTo>
                  <a:pt x="657911" y="1315822"/>
                </a:lnTo>
                <a:close/>
                <a:moveTo>
                  <a:pt x="719947" y="358073"/>
                </a:moveTo>
                <a:cubicBezTo>
                  <a:pt x="719947" y="288026"/>
                  <a:pt x="614001" y="288007"/>
                  <a:pt x="614001" y="358073"/>
                </a:cubicBezTo>
                <a:lnTo>
                  <a:pt x="614001" y="620516"/>
                </a:lnTo>
                <a:lnTo>
                  <a:pt x="351558" y="620516"/>
                </a:lnTo>
                <a:cubicBezTo>
                  <a:pt x="281511" y="620516"/>
                  <a:pt x="281492" y="726453"/>
                  <a:pt x="351558" y="726453"/>
                </a:cubicBezTo>
                <a:lnTo>
                  <a:pt x="666969" y="726453"/>
                </a:lnTo>
                <a:lnTo>
                  <a:pt x="667388" y="726453"/>
                </a:lnTo>
                <a:cubicBezTo>
                  <a:pt x="683866" y="726453"/>
                  <a:pt x="696478" y="720585"/>
                  <a:pt x="705202" y="711613"/>
                </a:cubicBezTo>
                <a:cubicBezTo>
                  <a:pt x="714118" y="702888"/>
                  <a:pt x="719947" y="690324"/>
                  <a:pt x="719947" y="673894"/>
                </a:cubicBezTo>
                <a:lnTo>
                  <a:pt x="719947" y="673475"/>
                </a:lnTo>
                <a:lnTo>
                  <a:pt x="719947" y="3580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5" name="Graphic 14" descr="Bank with solid fill">
            <a:extLst>
              <a:ext uri="{FF2B5EF4-FFF2-40B4-BE49-F238E27FC236}">
                <a16:creationId xmlns:a16="http://schemas.microsoft.com/office/drawing/2014/main" id="{A7631E16-7955-9045-B501-CAD4ECD90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5498" y="1900012"/>
            <a:ext cx="448231" cy="470198"/>
          </a:xfrm>
          <a:prstGeom prst="rect">
            <a:avLst/>
          </a:prstGeom>
        </p:spPr>
      </p:pic>
      <p:pic>
        <p:nvPicPr>
          <p:cNvPr id="17" name="Graphic 16" descr="Hourglass Finished with solid fill">
            <a:extLst>
              <a:ext uri="{FF2B5EF4-FFF2-40B4-BE49-F238E27FC236}">
                <a16:creationId xmlns:a16="http://schemas.microsoft.com/office/drawing/2014/main" id="{5D240D01-DC8B-A775-485B-34289A392E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8055" y="1882884"/>
            <a:ext cx="464458" cy="33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9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9FBC09-5A84-45A9-B63B-5DEAA4BE7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A93DB-B3B6-47AF-84B6-0AE60CEEF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0" y="1992933"/>
            <a:ext cx="5038725" cy="1327268"/>
          </a:xfrm>
        </p:spPr>
        <p:txBody>
          <a:bodyPr/>
          <a:lstStyle/>
          <a:p>
            <a:r>
              <a:rPr lang="en-US" b="1" noProof="1">
                <a:solidFill>
                  <a:schemeClr val="accent2"/>
                </a:solidFill>
                <a:latin typeface="+mj-lt"/>
              </a:rPr>
              <a:t>Customer Creditworthiness Insights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 High default risk linked to low income and unstable jobs.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Regular repayments show strong credit behavior.</a:t>
            </a:r>
          </a:p>
          <a:p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27B38-2109-4A32-9B61-7046301BA0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41D6D94-B2BB-401E-AACC-F5CA79C890E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095500" y="3422739"/>
            <a:ext cx="5038725" cy="1095375"/>
          </a:xfrm>
        </p:spPr>
        <p:txBody>
          <a:bodyPr/>
          <a:lstStyle/>
          <a:p>
            <a:r>
              <a:rPr lang="en-US" b="1" noProof="1">
                <a:solidFill>
                  <a:schemeClr val="accent2"/>
                </a:solidFill>
                <a:latin typeface="+mj-lt"/>
              </a:rPr>
              <a:t>Model and Analysis Performance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Data cleaned using NumPy and Pandas.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Pivot tables and charts used for risk visualization.</a:t>
            </a:r>
          </a:p>
          <a:p>
            <a:endParaRPr lang="en-US" sz="12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46FF8FD-032B-4D36-A8A8-4808293CC3D6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095500" y="4867850"/>
            <a:ext cx="5038725" cy="1095375"/>
          </a:xfrm>
        </p:spPr>
        <p:txBody>
          <a:bodyPr/>
          <a:lstStyle/>
          <a:p>
            <a:r>
              <a:rPr lang="en-US" b="1" noProof="1">
                <a:solidFill>
                  <a:schemeClr val="accent2"/>
                </a:solidFill>
                <a:latin typeface="+mj-lt"/>
              </a:rPr>
              <a:t>Business Decision &amp; Future Scope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Helps banks improve credit decisions.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Future scope: real-time data and ML-based prediction.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11" name="object 7" descr="Beige rectangle">
            <a:extLst>
              <a:ext uri="{FF2B5EF4-FFF2-40B4-BE49-F238E27FC236}">
                <a16:creationId xmlns:a16="http://schemas.microsoft.com/office/drawing/2014/main" id="{0EF37AB9-30F5-41E6-9478-F4DEF99FA9B7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pic>
        <p:nvPicPr>
          <p:cNvPr id="26" name="Picture Placeholder 11" descr="Business Growth">
            <a:extLst>
              <a:ext uri="{FF2B5EF4-FFF2-40B4-BE49-F238E27FC236}">
                <a16:creationId xmlns:a16="http://schemas.microsoft.com/office/drawing/2014/main" id="{AC795B1E-52EB-4FE3-A1E0-F3353825550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84213" y="1992934"/>
            <a:ext cx="1095375" cy="1095375"/>
          </a:xfrm>
        </p:spPr>
      </p:pic>
      <p:pic>
        <p:nvPicPr>
          <p:cNvPr id="27" name="Picture Placeholder 13" descr="Programmer">
            <a:extLst>
              <a:ext uri="{FF2B5EF4-FFF2-40B4-BE49-F238E27FC236}">
                <a16:creationId xmlns:a16="http://schemas.microsoft.com/office/drawing/2014/main" id="{6E924CF4-613B-4D10-84B4-60CDEB9D1E3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84213" y="3431134"/>
            <a:ext cx="1095375" cy="1095375"/>
          </a:xfrm>
        </p:spPr>
      </p:pic>
      <p:pic>
        <p:nvPicPr>
          <p:cNvPr id="28" name="Picture Placeholder 15" descr="Presentation with checklist RTL">
            <a:extLst>
              <a:ext uri="{FF2B5EF4-FFF2-40B4-BE49-F238E27FC236}">
                <a16:creationId xmlns:a16="http://schemas.microsoft.com/office/drawing/2014/main" id="{4A3F8A3D-A21F-48E8-9665-AC8C102CB76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84213" y="4869334"/>
            <a:ext cx="1095375" cy="1095375"/>
          </a:xfrm>
        </p:spPr>
      </p:pic>
    </p:spTree>
    <p:extLst>
      <p:ext uri="{BB962C8B-B14F-4D97-AF65-F5344CB8AC3E}">
        <p14:creationId xmlns:p14="http://schemas.microsoft.com/office/powerpoint/2010/main" val="111089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F923CFB6-5709-405C-8762-B310D3F2195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90445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17F5BF1-88DB-42F2-98A6-4C7FBFC31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E363B-55F5-4528-8A9D-A5D90055CD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/>
              <a:t>R</a:t>
            </a:r>
            <a:r>
              <a:rPr lang="en-US" dirty="0"/>
              <a:t>oshan Kumar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5FEE4F-333C-40EF-B46D-8D25C79C05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roshantech08@gmail.com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F44DEB-FABF-4ADE-B7EB-29DFAFA3DF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www.linkedin.com/in/itz-roshan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795760-75DB-4415-BB10-2C6299BBF1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TEAM REPRESENTATIVE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F39051-1049-4508-8373-6A289966A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399" y="2238573"/>
            <a:ext cx="10629202" cy="119042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2D7851E8-1907-4C8A-A16F-E461B5BFA940}"/>
              </a:ext>
            </a:extLst>
          </p:cNvPr>
          <p:cNvSpPr/>
          <p:nvPr/>
        </p:nvSpPr>
        <p:spPr bwMode="white">
          <a:xfrm flipV="1">
            <a:off x="1204699" y="37916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46" name="Group 45" descr="Icon Phone">
            <a:extLst>
              <a:ext uri="{FF2B5EF4-FFF2-40B4-BE49-F238E27FC236}">
                <a16:creationId xmlns:a16="http://schemas.microsoft.com/office/drawing/2014/main" id="{4BB2D73A-DB1F-47D9-9BDA-D6F01A0EDC06}"/>
              </a:ext>
            </a:extLst>
          </p:cNvPr>
          <p:cNvGrpSpPr/>
          <p:nvPr/>
        </p:nvGrpSpPr>
        <p:grpSpPr>
          <a:xfrm>
            <a:off x="1365937" y="5637315"/>
            <a:ext cx="297521" cy="297521"/>
            <a:chOff x="1334697" y="5606075"/>
            <a:chExt cx="360000" cy="360000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C40AF29-F294-4B60-B5B4-56011134948E}"/>
                </a:ext>
              </a:extLst>
            </p:cNvPr>
            <p:cNvSpPr/>
            <p:nvPr/>
          </p:nvSpPr>
          <p:spPr>
            <a:xfrm>
              <a:off x="1423220" y="5624464"/>
              <a:ext cx="257175" cy="257175"/>
            </a:xfrm>
            <a:custGeom>
              <a:avLst/>
              <a:gdLst>
                <a:gd name="connsiteX0" fmla="*/ 0 w 257175"/>
                <a:gd name="connsiteY0" fmla="*/ 163664 h 257175"/>
                <a:gd name="connsiteX1" fmla="*/ 163664 w 257175"/>
                <a:gd name="connsiteY1" fmla="*/ 0 h 257175"/>
                <a:gd name="connsiteX2" fmla="*/ 261323 w 257175"/>
                <a:gd name="connsiteY2" fmla="*/ 97659 h 257175"/>
                <a:gd name="connsiteX3" fmla="*/ 97659 w 257175"/>
                <a:gd name="connsiteY3" fmla="*/ 261323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175" h="257175">
                  <a:moveTo>
                    <a:pt x="0" y="163664"/>
                  </a:moveTo>
                  <a:lnTo>
                    <a:pt x="163664" y="0"/>
                  </a:lnTo>
                  <a:lnTo>
                    <a:pt x="261323" y="97659"/>
                  </a:lnTo>
                  <a:lnTo>
                    <a:pt x="97659" y="261323"/>
                  </a:lnTo>
                  <a:close/>
                </a:path>
              </a:pathLst>
            </a:custGeom>
            <a:noFill/>
            <a:ln w="23813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2F5782C-5E0E-47EA-861C-88990A8D95DF}"/>
                </a:ext>
              </a:extLst>
            </p:cNvPr>
            <p:cNvSpPr/>
            <p:nvPr/>
          </p:nvSpPr>
          <p:spPr>
            <a:xfrm>
              <a:off x="1491815" y="580038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17145 w 9525"/>
                <a:gd name="connsiteY1" fmla="*/ 18098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17145" y="18098"/>
                  </a:lnTo>
                </a:path>
              </a:pathLst>
            </a:custGeom>
            <a:ln w="23813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ACDDF69-03CD-491C-A9E4-08E5726C5BD3}"/>
                </a:ext>
              </a:extLst>
            </p:cNvPr>
            <p:cNvSpPr/>
            <p:nvPr/>
          </p:nvSpPr>
          <p:spPr>
            <a:xfrm>
              <a:off x="1334697" y="5606075"/>
              <a:ext cx="360000" cy="360000"/>
            </a:xfrm>
            <a:custGeom>
              <a:avLst/>
              <a:gdLst>
                <a:gd name="connsiteX0" fmla="*/ 0 w 360000"/>
                <a:gd name="connsiteY0" fmla="*/ 0 h 360000"/>
                <a:gd name="connsiteX1" fmla="*/ 185104 w 360000"/>
                <a:gd name="connsiteY1" fmla="*/ 0 h 360000"/>
                <a:gd name="connsiteX2" fmla="*/ 185104 w 360000"/>
                <a:gd name="connsiteY2" fmla="*/ 172694 h 360000"/>
                <a:gd name="connsiteX3" fmla="*/ 360000 w 360000"/>
                <a:gd name="connsiteY3" fmla="*/ 172694 h 360000"/>
                <a:gd name="connsiteX4" fmla="*/ 360000 w 360000"/>
                <a:gd name="connsiteY4" fmla="*/ 360000 h 360000"/>
                <a:gd name="connsiteX5" fmla="*/ 0 w 360000"/>
                <a:gd name="connsiteY5" fmla="*/ 360000 h 360000"/>
                <a:gd name="connsiteX0" fmla="*/ 185104 w 360000"/>
                <a:gd name="connsiteY0" fmla="*/ 172694 h 360000"/>
                <a:gd name="connsiteX1" fmla="*/ 360000 w 360000"/>
                <a:gd name="connsiteY1" fmla="*/ 172694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185104 w 360000"/>
                <a:gd name="connsiteY5" fmla="*/ 0 h 360000"/>
                <a:gd name="connsiteX6" fmla="*/ 276544 w 360000"/>
                <a:gd name="connsiteY6" fmla="*/ 264134 h 360000"/>
                <a:gd name="connsiteX0" fmla="*/ 185104 w 360000"/>
                <a:gd name="connsiteY0" fmla="*/ 172694 h 360000"/>
                <a:gd name="connsiteX1" fmla="*/ 360000 w 360000"/>
                <a:gd name="connsiteY1" fmla="*/ 172694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185104 w 360000"/>
                <a:gd name="connsiteY5" fmla="*/ 0 h 360000"/>
                <a:gd name="connsiteX0" fmla="*/ 360000 w 360000"/>
                <a:gd name="connsiteY0" fmla="*/ 172694 h 360000"/>
                <a:gd name="connsiteX1" fmla="*/ 360000 w 360000"/>
                <a:gd name="connsiteY1" fmla="*/ 360000 h 360000"/>
                <a:gd name="connsiteX2" fmla="*/ 0 w 360000"/>
                <a:gd name="connsiteY2" fmla="*/ 360000 h 360000"/>
                <a:gd name="connsiteX3" fmla="*/ 0 w 360000"/>
                <a:gd name="connsiteY3" fmla="*/ 0 h 360000"/>
                <a:gd name="connsiteX4" fmla="*/ 185104 w 360000"/>
                <a:gd name="connsiteY4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000" h="360000">
                  <a:moveTo>
                    <a:pt x="360000" y="172694"/>
                  </a:moveTo>
                  <a:lnTo>
                    <a:pt x="360000" y="360000"/>
                  </a:lnTo>
                  <a:lnTo>
                    <a:pt x="0" y="360000"/>
                  </a:lnTo>
                  <a:lnTo>
                    <a:pt x="0" y="0"/>
                  </a:lnTo>
                  <a:lnTo>
                    <a:pt x="185104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50" name="Group 49" descr="Icon Email">
            <a:extLst>
              <a:ext uri="{FF2B5EF4-FFF2-40B4-BE49-F238E27FC236}">
                <a16:creationId xmlns:a16="http://schemas.microsoft.com/office/drawing/2014/main" id="{F7F47E31-EB9A-4529-BE0F-A1213B79FE07}"/>
              </a:ext>
            </a:extLst>
          </p:cNvPr>
          <p:cNvGrpSpPr/>
          <p:nvPr/>
        </p:nvGrpSpPr>
        <p:grpSpPr>
          <a:xfrm>
            <a:off x="1365937" y="5133777"/>
            <a:ext cx="297521" cy="297521"/>
            <a:chOff x="1334697" y="5102537"/>
            <a:chExt cx="360000" cy="36000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99C0ACA-AA85-4505-A8DF-0275634D7832}"/>
                </a:ext>
              </a:extLst>
            </p:cNvPr>
            <p:cNvGrpSpPr/>
            <p:nvPr/>
          </p:nvGrpSpPr>
          <p:grpSpPr>
            <a:xfrm>
              <a:off x="1413695" y="5129259"/>
              <a:ext cx="257175" cy="257175"/>
              <a:chOff x="1423220" y="5138784"/>
              <a:chExt cx="257175" cy="257175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85AA236B-9A92-4808-B7BB-0AEF3FD2754B}"/>
                  </a:ext>
                </a:extLst>
              </p:cNvPr>
              <p:cNvSpPr/>
              <p:nvPr/>
            </p:nvSpPr>
            <p:spPr>
              <a:xfrm>
                <a:off x="1423220" y="5138784"/>
                <a:ext cx="257175" cy="257175"/>
              </a:xfrm>
              <a:custGeom>
                <a:avLst/>
                <a:gdLst>
                  <a:gd name="connsiteX0" fmla="*/ 0 w 257175"/>
                  <a:gd name="connsiteY0" fmla="*/ 163664 h 257175"/>
                  <a:gd name="connsiteX1" fmla="*/ 163664 w 257175"/>
                  <a:gd name="connsiteY1" fmla="*/ 0 h 257175"/>
                  <a:gd name="connsiteX2" fmla="*/ 261323 w 257175"/>
                  <a:gd name="connsiteY2" fmla="*/ 97659 h 257175"/>
                  <a:gd name="connsiteX3" fmla="*/ 97659 w 257175"/>
                  <a:gd name="connsiteY3" fmla="*/ 261323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75" h="257175">
                    <a:moveTo>
                      <a:pt x="0" y="163664"/>
                    </a:moveTo>
                    <a:lnTo>
                      <a:pt x="163664" y="0"/>
                    </a:lnTo>
                    <a:lnTo>
                      <a:pt x="261323" y="97659"/>
                    </a:lnTo>
                    <a:lnTo>
                      <a:pt x="97659" y="261323"/>
                    </a:lnTo>
                    <a:close/>
                  </a:path>
                </a:pathLst>
              </a:custGeom>
              <a:noFill/>
              <a:ln w="23813" cap="flat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4E72230-A0A3-4A80-AD64-FE14B4AA1A95}"/>
                  </a:ext>
                </a:extLst>
              </p:cNvPr>
              <p:cNvSpPr/>
              <p:nvPr/>
            </p:nvSpPr>
            <p:spPr>
              <a:xfrm>
                <a:off x="1427045" y="5144212"/>
                <a:ext cx="161925" cy="161925"/>
              </a:xfrm>
              <a:custGeom>
                <a:avLst/>
                <a:gdLst>
                  <a:gd name="connsiteX0" fmla="*/ 0 w 161925"/>
                  <a:gd name="connsiteY0" fmla="*/ 162878 h 161925"/>
                  <a:gd name="connsiteX1" fmla="*/ 141923 w 161925"/>
                  <a:gd name="connsiteY1" fmla="*/ 135255 h 161925"/>
                  <a:gd name="connsiteX2" fmla="*/ 162878 w 161925"/>
                  <a:gd name="connsiteY2" fmla="*/ 0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1925" h="161925">
                    <a:moveTo>
                      <a:pt x="0" y="162878"/>
                    </a:moveTo>
                    <a:lnTo>
                      <a:pt x="141923" y="135255"/>
                    </a:lnTo>
                    <a:lnTo>
                      <a:pt x="162878" y="0"/>
                    </a:lnTo>
                  </a:path>
                </a:pathLst>
              </a:custGeom>
              <a:noFill/>
              <a:ln w="23813" cap="flat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01D119F-74E1-4482-B664-AAD0BB5B651F}"/>
                </a:ext>
              </a:extLst>
            </p:cNvPr>
            <p:cNvSpPr/>
            <p:nvPr/>
          </p:nvSpPr>
          <p:spPr>
            <a:xfrm>
              <a:off x="1334697" y="5102537"/>
              <a:ext cx="360000" cy="360000"/>
            </a:xfrm>
            <a:custGeom>
              <a:avLst/>
              <a:gdLst>
                <a:gd name="connsiteX0" fmla="*/ 0 w 360000"/>
                <a:gd name="connsiteY0" fmla="*/ 0 h 360000"/>
                <a:gd name="connsiteX1" fmla="*/ 185104 w 360000"/>
                <a:gd name="connsiteY1" fmla="*/ 0 h 360000"/>
                <a:gd name="connsiteX2" fmla="*/ 185104 w 360000"/>
                <a:gd name="connsiteY2" fmla="*/ 172694 h 360000"/>
                <a:gd name="connsiteX3" fmla="*/ 360000 w 360000"/>
                <a:gd name="connsiteY3" fmla="*/ 172694 h 360000"/>
                <a:gd name="connsiteX4" fmla="*/ 360000 w 360000"/>
                <a:gd name="connsiteY4" fmla="*/ 360000 h 360000"/>
                <a:gd name="connsiteX5" fmla="*/ 0 w 360000"/>
                <a:gd name="connsiteY5" fmla="*/ 360000 h 360000"/>
                <a:gd name="connsiteX0" fmla="*/ 185104 w 360000"/>
                <a:gd name="connsiteY0" fmla="*/ 172694 h 360000"/>
                <a:gd name="connsiteX1" fmla="*/ 360000 w 360000"/>
                <a:gd name="connsiteY1" fmla="*/ 172694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185104 w 360000"/>
                <a:gd name="connsiteY5" fmla="*/ 0 h 360000"/>
                <a:gd name="connsiteX6" fmla="*/ 276544 w 360000"/>
                <a:gd name="connsiteY6" fmla="*/ 264134 h 360000"/>
                <a:gd name="connsiteX0" fmla="*/ 185104 w 360000"/>
                <a:gd name="connsiteY0" fmla="*/ 172694 h 360000"/>
                <a:gd name="connsiteX1" fmla="*/ 360000 w 360000"/>
                <a:gd name="connsiteY1" fmla="*/ 172694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185104 w 360000"/>
                <a:gd name="connsiteY5" fmla="*/ 0 h 360000"/>
                <a:gd name="connsiteX0" fmla="*/ 360000 w 360000"/>
                <a:gd name="connsiteY0" fmla="*/ 172694 h 360000"/>
                <a:gd name="connsiteX1" fmla="*/ 360000 w 360000"/>
                <a:gd name="connsiteY1" fmla="*/ 360000 h 360000"/>
                <a:gd name="connsiteX2" fmla="*/ 0 w 360000"/>
                <a:gd name="connsiteY2" fmla="*/ 360000 h 360000"/>
                <a:gd name="connsiteX3" fmla="*/ 0 w 360000"/>
                <a:gd name="connsiteY3" fmla="*/ 0 h 360000"/>
                <a:gd name="connsiteX4" fmla="*/ 185104 w 360000"/>
                <a:gd name="connsiteY4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000" h="360000">
                  <a:moveTo>
                    <a:pt x="360000" y="172694"/>
                  </a:moveTo>
                  <a:lnTo>
                    <a:pt x="360000" y="360000"/>
                  </a:lnTo>
                  <a:lnTo>
                    <a:pt x="0" y="360000"/>
                  </a:lnTo>
                  <a:lnTo>
                    <a:pt x="0" y="0"/>
                  </a:lnTo>
                  <a:lnTo>
                    <a:pt x="185104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55" name="Group 54" descr="Icon Person">
            <a:extLst>
              <a:ext uri="{FF2B5EF4-FFF2-40B4-BE49-F238E27FC236}">
                <a16:creationId xmlns:a16="http://schemas.microsoft.com/office/drawing/2014/main" id="{9E1A2D9D-4A3F-4720-9A14-FFD74FC5C7A2}"/>
              </a:ext>
            </a:extLst>
          </p:cNvPr>
          <p:cNvGrpSpPr/>
          <p:nvPr/>
        </p:nvGrpSpPr>
        <p:grpSpPr>
          <a:xfrm>
            <a:off x="1365937" y="4611901"/>
            <a:ext cx="297521" cy="297521"/>
            <a:chOff x="1334697" y="4580661"/>
            <a:chExt cx="360000" cy="3600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BC59C07-FDEC-40D0-BE4E-E1FAC0DEBC4A}"/>
                </a:ext>
              </a:extLst>
            </p:cNvPr>
            <p:cNvGrpSpPr/>
            <p:nvPr/>
          </p:nvGrpSpPr>
          <p:grpSpPr>
            <a:xfrm>
              <a:off x="1421012" y="4633770"/>
              <a:ext cx="180975" cy="231458"/>
              <a:chOff x="1443237" y="4633770"/>
              <a:chExt cx="180975" cy="231458"/>
            </a:xfrm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15EC7012-98A7-4A94-8CC9-0EC3408A6BC4}"/>
                  </a:ext>
                </a:extLst>
              </p:cNvPr>
              <p:cNvSpPr/>
              <p:nvPr/>
            </p:nvSpPr>
            <p:spPr>
              <a:xfrm>
                <a:off x="1478479" y="4633770"/>
                <a:ext cx="114300" cy="114300"/>
              </a:xfrm>
              <a:custGeom>
                <a:avLst/>
                <a:gdLst>
                  <a:gd name="connsiteX0" fmla="*/ 118110 w 114300"/>
                  <a:gd name="connsiteY0" fmla="*/ 59055 h 114300"/>
                  <a:gd name="connsiteX1" fmla="*/ 59055 w 114300"/>
                  <a:gd name="connsiteY1" fmla="*/ 118110 h 114300"/>
                  <a:gd name="connsiteX2" fmla="*/ 0 w 114300"/>
                  <a:gd name="connsiteY2" fmla="*/ 59055 h 114300"/>
                  <a:gd name="connsiteX3" fmla="*/ 59055 w 114300"/>
                  <a:gd name="connsiteY3" fmla="*/ 0 h 114300"/>
                  <a:gd name="connsiteX4" fmla="*/ 118110 w 114300"/>
                  <a:gd name="connsiteY4" fmla="*/ 59055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8110" y="59055"/>
                    </a:moveTo>
                    <a:cubicBezTo>
                      <a:pt x="118110" y="91440"/>
                      <a:pt x="91440" y="118110"/>
                      <a:pt x="59055" y="118110"/>
                    </a:cubicBezTo>
                    <a:cubicBezTo>
                      <a:pt x="26670" y="118110"/>
                      <a:pt x="0" y="91440"/>
                      <a:pt x="0" y="59055"/>
                    </a:cubicBezTo>
                    <a:cubicBezTo>
                      <a:pt x="0" y="26670"/>
                      <a:pt x="26670" y="0"/>
                      <a:pt x="59055" y="0"/>
                    </a:cubicBezTo>
                    <a:cubicBezTo>
                      <a:pt x="91440" y="0"/>
                      <a:pt x="118110" y="25718"/>
                      <a:pt x="118110" y="59055"/>
                    </a:cubicBezTo>
                    <a:close/>
                  </a:path>
                </a:pathLst>
              </a:custGeom>
              <a:noFill/>
              <a:ln w="23813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E519FE88-ED74-4D46-86D2-F2530BE46026}"/>
                  </a:ext>
                </a:extLst>
              </p:cNvPr>
              <p:cNvSpPr/>
              <p:nvPr/>
            </p:nvSpPr>
            <p:spPr>
              <a:xfrm>
                <a:off x="1443237" y="4798553"/>
                <a:ext cx="180975" cy="66675"/>
              </a:xfrm>
              <a:custGeom>
                <a:avLst/>
                <a:gdLst>
                  <a:gd name="connsiteX0" fmla="*/ 0 w 180975"/>
                  <a:gd name="connsiteY0" fmla="*/ 72390 h 66675"/>
                  <a:gd name="connsiteX1" fmla="*/ 94298 w 180975"/>
                  <a:gd name="connsiteY1" fmla="*/ 0 h 66675"/>
                  <a:gd name="connsiteX2" fmla="*/ 188595 w 180975"/>
                  <a:gd name="connsiteY2" fmla="*/ 7239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0975" h="66675">
                    <a:moveTo>
                      <a:pt x="0" y="72390"/>
                    </a:moveTo>
                    <a:cubicBezTo>
                      <a:pt x="0" y="20955"/>
                      <a:pt x="41910" y="0"/>
                      <a:pt x="94298" y="0"/>
                    </a:cubicBezTo>
                    <a:cubicBezTo>
                      <a:pt x="146685" y="0"/>
                      <a:pt x="188595" y="20955"/>
                      <a:pt x="188595" y="72390"/>
                    </a:cubicBezTo>
                  </a:path>
                </a:pathLst>
              </a:custGeom>
              <a:noFill/>
              <a:ln w="23813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3AF6D1D-DE4A-460B-A540-E7DACF1F333F}"/>
                </a:ext>
              </a:extLst>
            </p:cNvPr>
            <p:cNvSpPr/>
            <p:nvPr/>
          </p:nvSpPr>
          <p:spPr>
            <a:xfrm>
              <a:off x="1334697" y="4580661"/>
              <a:ext cx="360000" cy="360000"/>
            </a:xfrm>
            <a:custGeom>
              <a:avLst/>
              <a:gdLst>
                <a:gd name="connsiteX0" fmla="*/ 0 w 360000"/>
                <a:gd name="connsiteY0" fmla="*/ 0 h 360000"/>
                <a:gd name="connsiteX1" fmla="*/ 83322 w 360000"/>
                <a:gd name="connsiteY1" fmla="*/ 0 h 360000"/>
                <a:gd name="connsiteX2" fmla="*/ 83322 w 360000"/>
                <a:gd name="connsiteY2" fmla="*/ 68850 h 360000"/>
                <a:gd name="connsiteX3" fmla="*/ 276679 w 360000"/>
                <a:gd name="connsiteY3" fmla="*/ 68850 h 360000"/>
                <a:gd name="connsiteX4" fmla="*/ 276679 w 360000"/>
                <a:gd name="connsiteY4" fmla="*/ 0 h 360000"/>
                <a:gd name="connsiteX5" fmla="*/ 360000 w 360000"/>
                <a:gd name="connsiteY5" fmla="*/ 0 h 360000"/>
                <a:gd name="connsiteX6" fmla="*/ 360000 w 360000"/>
                <a:gd name="connsiteY6" fmla="*/ 360000 h 360000"/>
                <a:gd name="connsiteX7" fmla="*/ 0 w 360000"/>
                <a:gd name="connsiteY7" fmla="*/ 360000 h 360000"/>
                <a:gd name="connsiteX0" fmla="*/ 276679 w 368119"/>
                <a:gd name="connsiteY0" fmla="*/ 68850 h 360000"/>
                <a:gd name="connsiteX1" fmla="*/ 276679 w 368119"/>
                <a:gd name="connsiteY1" fmla="*/ 0 h 360000"/>
                <a:gd name="connsiteX2" fmla="*/ 360000 w 368119"/>
                <a:gd name="connsiteY2" fmla="*/ 0 h 360000"/>
                <a:gd name="connsiteX3" fmla="*/ 360000 w 368119"/>
                <a:gd name="connsiteY3" fmla="*/ 360000 h 360000"/>
                <a:gd name="connsiteX4" fmla="*/ 0 w 368119"/>
                <a:gd name="connsiteY4" fmla="*/ 360000 h 360000"/>
                <a:gd name="connsiteX5" fmla="*/ 0 w 368119"/>
                <a:gd name="connsiteY5" fmla="*/ 0 h 360000"/>
                <a:gd name="connsiteX6" fmla="*/ 83322 w 368119"/>
                <a:gd name="connsiteY6" fmla="*/ 0 h 360000"/>
                <a:gd name="connsiteX7" fmla="*/ 83322 w 368119"/>
                <a:gd name="connsiteY7" fmla="*/ 68850 h 360000"/>
                <a:gd name="connsiteX8" fmla="*/ 368119 w 368119"/>
                <a:gd name="connsiteY8" fmla="*/ 160290 h 360000"/>
                <a:gd name="connsiteX0" fmla="*/ 276679 w 360000"/>
                <a:gd name="connsiteY0" fmla="*/ 68850 h 360000"/>
                <a:gd name="connsiteX1" fmla="*/ 276679 w 360000"/>
                <a:gd name="connsiteY1" fmla="*/ 0 h 360000"/>
                <a:gd name="connsiteX2" fmla="*/ 360000 w 360000"/>
                <a:gd name="connsiteY2" fmla="*/ 0 h 360000"/>
                <a:gd name="connsiteX3" fmla="*/ 360000 w 360000"/>
                <a:gd name="connsiteY3" fmla="*/ 360000 h 360000"/>
                <a:gd name="connsiteX4" fmla="*/ 0 w 360000"/>
                <a:gd name="connsiteY4" fmla="*/ 360000 h 360000"/>
                <a:gd name="connsiteX5" fmla="*/ 0 w 360000"/>
                <a:gd name="connsiteY5" fmla="*/ 0 h 360000"/>
                <a:gd name="connsiteX6" fmla="*/ 83322 w 360000"/>
                <a:gd name="connsiteY6" fmla="*/ 0 h 360000"/>
                <a:gd name="connsiteX7" fmla="*/ 83322 w 360000"/>
                <a:gd name="connsiteY7" fmla="*/ 68850 h 360000"/>
                <a:gd name="connsiteX0" fmla="*/ 276679 w 360000"/>
                <a:gd name="connsiteY0" fmla="*/ 68850 h 360000"/>
                <a:gd name="connsiteX1" fmla="*/ 276679 w 360000"/>
                <a:gd name="connsiteY1" fmla="*/ 0 h 360000"/>
                <a:gd name="connsiteX2" fmla="*/ 360000 w 360000"/>
                <a:gd name="connsiteY2" fmla="*/ 0 h 360000"/>
                <a:gd name="connsiteX3" fmla="*/ 360000 w 360000"/>
                <a:gd name="connsiteY3" fmla="*/ 360000 h 360000"/>
                <a:gd name="connsiteX4" fmla="*/ 0 w 360000"/>
                <a:gd name="connsiteY4" fmla="*/ 360000 h 360000"/>
                <a:gd name="connsiteX5" fmla="*/ 0 w 360000"/>
                <a:gd name="connsiteY5" fmla="*/ 0 h 360000"/>
                <a:gd name="connsiteX6" fmla="*/ 83322 w 360000"/>
                <a:gd name="connsiteY6" fmla="*/ 0 h 360000"/>
                <a:gd name="connsiteX0" fmla="*/ 276679 w 360000"/>
                <a:gd name="connsiteY0" fmla="*/ 0 h 360000"/>
                <a:gd name="connsiteX1" fmla="*/ 360000 w 360000"/>
                <a:gd name="connsiteY1" fmla="*/ 0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83322 w 360000"/>
                <a:gd name="connsiteY5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0000" h="360000">
                  <a:moveTo>
                    <a:pt x="276679" y="0"/>
                  </a:moveTo>
                  <a:lnTo>
                    <a:pt x="360000" y="0"/>
                  </a:lnTo>
                  <a:lnTo>
                    <a:pt x="360000" y="360000"/>
                  </a:lnTo>
                  <a:lnTo>
                    <a:pt x="0" y="360000"/>
                  </a:lnTo>
                  <a:lnTo>
                    <a:pt x="0" y="0"/>
                  </a:lnTo>
                  <a:lnTo>
                    <a:pt x="83322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76954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MS Healthcare Pitch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MS Healthcare Pitch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2"/>
            </a:gs>
            <a:gs pos="100000">
              <a:schemeClr val="accent2"/>
            </a:gs>
          </a:gsLst>
          <a:lin ang="144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MB Healthcare Pitch Deck SB_v3" id="{F20654C3-30CB-4A23-AE37-CA3918CCFD51}" vid="{71C4247B-9648-406B-9B0E-E712402798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4BDB64-2AF8-42D4-96C8-B6B6F098993C}">
  <ds:schemaRefs>
    <ds:schemaRef ds:uri="http://schemas.microsoft.com/office/2006/documentManagement/types"/>
    <ds:schemaRef ds:uri="http://www.w3.org/XML/1998/namespace"/>
    <ds:schemaRef ds:uri="http://purl.org/dc/elements/1.1/"/>
    <ds:schemaRef ds:uri="71af3243-3dd4-4a8d-8c0d-dd76da1f02a5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16c05727-aa75-4e4a-9b5f-8a80a1165891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C66BDC7-24D2-4343-8D41-18F9C23F86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3BAED8-F9E7-4D41-86E9-333473F909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Healthcare office pitch deck</Template>
  <TotalTime>769</TotalTime>
  <Words>1229</Words>
  <Application>Microsoft Office PowerPoint</Application>
  <PresentationFormat>Widescreen</PresentationFormat>
  <Paragraphs>239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Arial </vt:lpstr>
      <vt:lpstr>Calibri</vt:lpstr>
      <vt:lpstr>Courier New</vt:lpstr>
      <vt:lpstr>Gill Sans MT</vt:lpstr>
      <vt:lpstr>Wingdings</vt:lpstr>
      <vt:lpstr>Office Theme</vt:lpstr>
      <vt:lpstr>BANK  LOAN  DEFAULT RISK  ANALYSIS</vt:lpstr>
      <vt:lpstr>Our  TEAM  members</vt:lpstr>
      <vt:lpstr>INTRODUCTION</vt:lpstr>
      <vt:lpstr>RAW DATA COLLECTION</vt:lpstr>
      <vt:lpstr>PROJECT OVERVIEW</vt:lpstr>
      <vt:lpstr>TOOLS &amp; LIBRARIES USED</vt:lpstr>
      <vt:lpstr>PowerPoint Presentation</vt:lpstr>
      <vt:lpstr>DATA CLEANING ( Numpy &amp; Pandas )</vt:lpstr>
      <vt:lpstr>PowerPoint Presentation</vt:lpstr>
      <vt:lpstr>PowerPoint Presentation</vt:lpstr>
      <vt:lpstr>DATA CLEANING Summary</vt:lpstr>
      <vt:lpstr>PowerPoint Presentation</vt:lpstr>
      <vt:lpstr>EXCEL DATA CLEANING &amp; Formatting</vt:lpstr>
      <vt:lpstr>PowerPoint Presentation</vt:lpstr>
      <vt:lpstr>EXCEL DATA VISUALIZATION</vt:lpstr>
      <vt:lpstr>PowerPoint Presentation</vt:lpstr>
      <vt:lpstr>POWER BI DASHBOARD CREATION</vt:lpstr>
      <vt:lpstr>POWER BI DASHBOARD FEATURES</vt:lpstr>
      <vt:lpstr>PowerPoint Presentation</vt:lpstr>
      <vt:lpstr>DATA VISUALIZATION INSIGHTS</vt:lpstr>
      <vt:lpstr>BUSINESS IMPACT </vt:lpstr>
      <vt:lpstr>FUTURE IMPROVEMENTS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Roshan Singh</cp:lastModifiedBy>
  <cp:revision>25</cp:revision>
  <dcterms:created xsi:type="dcterms:W3CDTF">2025-11-08T10:17:29Z</dcterms:created>
  <dcterms:modified xsi:type="dcterms:W3CDTF">2025-11-12T04:25:40Z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